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next quarter of an hour I’ll show you the software that can drive your rover for you: what it does, the three packages you can buy, how they differ, and how to get started. By the end you should know which package suits your team, and what to do in your first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is built like LEGO. At the bottom are the basic functions: driving, turning, the distance sensor, the colour sensor, and a set of tests called setup_check. Every package has these. On top you can add one brain: the wall follower, or the maze explorer. And next to all of it is the simulator, which every team gets for free, whichever package you buy. It runs your real program on a computer, with a pretend version of your rover on a pretend version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they are side by side. With Basic functions you plan the route; with the other two, the rover does. Basic functions finds a patch only if your route goes over it. The wall follower finds patches along the walls, but it misses patches out in the open floor. The explorer finds patches anywhere it can reach. If the colours must be found in a set order, Basic functions can do that because you write the route, and the explorer can do it with explore(find=…); the wall follower simply reacts to colours in the order it meets them. And the price of that: a hard-coded route is fastest, the wall follower is in the middle, and a full search with the explorer takes minutes. Prices: [read out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one: Basic functions. You write the route as a list of moves, like this: drive 60 centimetres, face west, drive on until you’re 15 centimetres from the wall, face north, drive 80 more. The software makes every one of those moves accurate. It’s great if you know the course well, and it gives you the fastest run. The catch: anything you didn’t plan for breaks the route. My tip: plan your route along walls. Driving up to a wall corrects the small errors from the moves before it, because the wall is always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two: the wall follower. It works the way you could find your way round a maze in the dark: keep one hand on the wall and keep walking. The rover drives straight on until it meets a wall, turns so the wall is on its chosen hand, and then at every step tries to turn towards that hand, then straight on, then away, then back. It stops when it’s about to repeat its very first move: it has been all the way round. It’s simple, it needs no map, and it’s easy to predict. But look at the picture: it finds the green patch by the wall, and it never goes near the red patch in the middle of the floor. You choose which hand in the settings, so try both in the simulator with your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three: the maze explorer. The rover thinks of the floor as a grid of small squares, and draws a map as it goes. Over and over, it plans: which is the nearest square I haven’t searched yet? It looks: one measurement with the distance sensor maps a whole line of squares. And it moves one square. It keeps going until it has searched everywhere it can reach. So it finds patches anywhere, even in the middle of the floor. It can also find colours in a set order: explore with find equals GREEN stops on green, does your actions, and then you can explore for the next colour. The cost is time: a full search takes minutes. You can give it hints, like near equals minus 30, 110, meaning roughly 30 centimetres left and 110 ahead, so it searches there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three on the same course. With Basic functions, the rover goes exactly where you planned. It finds both patches, but only because you knew where they were. The wall follower goes round the walls: it finds the green patch in the corner and never reaches the red one in the middle. The explorer covers every square it can reach, so it finds both, but it takes the longest. None of them is the best. The best one depends on your course and on how sure you are about where the patches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choose? Ask yourselves three questions. Do we know exactly where every patch is, and do we just want the fastest run? Then Basic functions. Are the patches along the walls, and do we want autonomy points without much risk? Then the wall follower. Could the patches be anywhere, or must they be found in a set order? Then the maze explorer. Two more things. Whichever you choose, you can still write your own moves, before, after or around the autonomy: for example, drive to a good starting point and then hand over. And the software is part of your budget, so weigh it against what else you could spend that money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Whichever package you choose, you get four things. setup_check: eight tests that check every part of your rover, one at a time, and tell you exactly which setting to change. The simulator, for free. A user manual, with a checklist for your first hour and every setting and function explained. And room for your own code: your own program, and your own actions for what the rover does on each colour, like dropping a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simulator. It runs your real program file, the same one you put on the hub, with a pretend rover on a pretend course. You draw your rover, its wheels and sensors, and your course, its walls and patches. When you run, you see the rover’s path, and a log of everything the program printed. Click any line and the simulator shows you where the rover was at that moment. And if the settings in your program don’t match the rover you drew, you get a red warning. That one matters: in one of our tests, a rover running with the wrong wheel size got completely lost. The simulator is a model, so always test on the real rover too, but it saves you hours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about design, before you build. The software turns the rover on the spot, by running one side forwards and the other backwards. So you need driven wheels on both sides; a rover that steers like a car can’t run the autonomy. When the rover spins, its corners sweep a circle: about 27 centimetres across for a rover 15 by 18. Gaps narrower than that are no-go zones, so a compact rover gets through more of the course. Four or six wheels work fine; they slide a bit when turning, so turns are slower, and two of the setup tests measure that for the simulator. And put the sensors where they can do their job: the distance sensor pointing straight ahead at the walls, and the colour sensor facing the floor, close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your first hour, and it’s in the manual too. One: copy your file into a new Python project in the SPIKE App. Two: fill in the settings for your rover: ports, wheel size, where the sensors are. Three: draw your rover in the simulator; it tells you if your settings don’t match. Four: run setup_check on the real rover, and fix whatever it reports. Five: run your program in the simulator. Six: only then, run it on the floor. One tip that will save you a lot of trouble: keep one master copy of your program file. Change it, test it in the simulator, then copy it into the SPIKE App. If you change it in the SPIKE App, copy it straight back, or you’ll end up with two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program file is long, over a thousand lines, but don’t panic: to get your rover going, you only need to change three places. The SETTINGS near the top, where you describe your rover and your course. YOUR PROGRAM at the very bottom, where you choose what runs or write your own moves. And on_colour_found, in the middle: search the file for ADD YOUR OWN ACTIONS HERE; that’s where you say what the rover does on each colour. Everything else is the rover software, and tinkering is encouraged. Read it, play with it, change it: that’s the best way to understand how your rover works. Just save a copy that works first, so you can always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measure your rover carefully, test in the simulator, and only then drive on the floor. Choose the package that fits your course and your budget: Basic functions if you know exactly where everything is, the wall follower if the patches are along the walls, and the explorer if they could be anywhere or must be found in order. You’ll find the manuals and the simulator at [where teams get them].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0084"/>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15232B"/>
                </a:solidFill>
                <a:latin typeface="Arial" pitchFamily="34" charset="0"/>
                <a:ea typeface="Arial" pitchFamily="34" charset="-122"/>
                <a:cs typeface="Arial"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2173684"/>
            <a:ext cx="10566400" cy="3871516"/>
          </a:xfrm>
          <a:prstGeom prst="rect">
            <a:avLst/>
          </a:prstGeom>
          <a:noFill/>
          <a:ln/>
        </p:spPr>
        <p:txBody>
          <a:bodyPr wrap="square" lIns="0" tIns="0" rIns="0" bIns="0" rtlCol="0" anchor="t"/>
          <a:lstStyle>
            <a:lvl1pPr algn="l" indent="0" marL="0">
              <a:lnSpc>
                <a:spcPct val="140000"/>
              </a:lnSpc>
              <a:buNone/>
              <a:defRPr lang="en-US" sz="1600" dirty="0">
                <a:solidFill>
                  <a:srgbClr val="15232B"/>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0084"/>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15232B"/>
                </a:solidFill>
                <a:latin typeface="Arial" pitchFamily="34" charset="0"/>
                <a:ea typeface="Arial" pitchFamily="34" charset="-122"/>
                <a:cs typeface="Arial"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2173684"/>
            <a:ext cx="10566400" cy="3871516"/>
          </a:xfrm>
          <a:prstGeom prst="rect">
            <a:avLst/>
          </a:prstGeom>
          <a:noFill/>
          <a:ln/>
        </p:spPr>
        <p:txBody>
          <a:bodyPr wrap="square" lIns="0" tIns="0" rIns="0" bIns="0" rtlCol="0" anchor="t"/>
          <a:lstStyle>
            <a:lvl1pPr algn="l" indent="0" marL="0">
              <a:lnSpc>
                <a:spcPct val="140000"/>
              </a:lnSpc>
              <a:buNone/>
              <a:defRPr lang="en-US" sz="1600" dirty="0">
                <a:solidFill>
                  <a:srgbClr val="15232B"/>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2B"/>
        </a:solidFill>
      </p:bgPr>
    </p:bg>
    <p:spTree>
      <p:nvGrpSpPr>
        <p:cNvPr id="1" name=""/>
        <p:cNvGrpSpPr/>
        <p:nvPr/>
      </p:nvGrpSpPr>
      <p:grpSpPr>
        <a:xfrm>
          <a:off x="0" y="0"/>
          <a:ext cx="0" cy="0"/>
          <a:chOff x="0" y="0"/>
          <a:chExt cx="0" cy="0"/>
        </a:xfrm>
      </p:grpSpPr>
      <p:sp>
        <p:nvSpPr>
          <p:cNvPr id="2" name="Shape 0"/>
          <p:cNvSpPr/>
          <p:nvPr/>
        </p:nvSpPr>
        <p:spPr>
          <a:xfrm>
            <a:off x="812800" y="1770380"/>
            <a:ext cx="1016000" cy="88900"/>
          </a:xfrm>
          <a:prstGeom prst="rect">
            <a:avLst/>
          </a:prstGeom>
          <a:solidFill>
            <a:srgbClr val="E8772E"/>
          </a:solidFill>
          <a:ln/>
        </p:spPr>
      </p:sp>
      <p:sp>
        <p:nvSpPr>
          <p:cNvPr id="3" name="Text 1"/>
          <p:cNvSpPr/>
          <p:nvPr>
            <p:ph type="title"/>
          </p:nvPr>
        </p:nvSpPr>
        <p:spPr>
          <a:xfrm>
            <a:off x="812800" y="2138680"/>
            <a:ext cx="10883392" cy="1968500"/>
          </a:xfrm>
          <a:prstGeom prst="rect">
            <a:avLst/>
          </a:prstGeom>
          <a:noFill/>
          <a:ln/>
        </p:spPr>
        <p:txBody>
          <a:bodyPr wrap="square" lIns="0" tIns="0" rIns="0" bIns="0" rtlCol="0" anchor="t">
            <a:normAutofit/>
          </a:bodyPr>
          <a:lstStyle/>
          <a:p>
            <a:pPr algn="l" indent="0" marL="0">
              <a:lnSpc>
                <a:spcPts val="7650"/>
              </a:lnSpc>
              <a:buNone/>
            </a:pPr>
            <a:r>
              <a:rPr lang="en-US" sz="7500" b="1" i="0" dirty="0">
                <a:solidFill>
                  <a:srgbClr val="F5F2EA"/>
                </a:solidFill>
                <a:latin typeface="Arial" pitchFamily="34" charset="0"/>
                <a:ea typeface="Arial" pitchFamily="34" charset="-122"/>
                <a:cs typeface="Arial" pitchFamily="34" charset="-120"/>
              </a:rPr>
              <a:t>YOUR ROVER,</a:t>
            </a:r>
            <a:endParaRPr lang="en-US" sz="7500" dirty="0"/>
          </a:p>
          <a:p>
            <a:pPr algn="l" indent="0" marL="0">
              <a:lnSpc>
                <a:spcPts val="7650"/>
              </a:lnSpc>
              <a:buNone/>
            </a:pPr>
            <a:r>
              <a:rPr lang="en-US" sz="7500" b="1" i="0" dirty="0">
                <a:solidFill>
                  <a:srgbClr val="F5F2EA"/>
                </a:solidFill>
                <a:latin typeface="Arial" pitchFamily="34" charset="0"/>
                <a:ea typeface="Arial" pitchFamily="34" charset="-122"/>
                <a:cs typeface="Arial" pitchFamily="34" charset="-120"/>
              </a:rPr>
              <a:t>ON AUTOPILOT</a:t>
            </a:r>
            <a:endParaRPr lang="en-US" sz="7500" dirty="0"/>
          </a:p>
        </p:txBody>
      </p:sp>
      <p:sp>
        <p:nvSpPr>
          <p:cNvPr id="4" name="Text 2"/>
          <p:cNvSpPr/>
          <p:nvPr/>
        </p:nvSpPr>
        <p:spPr>
          <a:xfrm>
            <a:off x="812800" y="4361180"/>
            <a:ext cx="863346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0D6"/>
                </a:solidFill>
                <a:latin typeface="Rubik" pitchFamily="34" charset="0"/>
                <a:ea typeface="Rubik" pitchFamily="34" charset="-122"/>
                <a:cs typeface="Rubik" pitchFamily="34" charset="-120"/>
              </a:rPr>
              <a:t>The rover software: what it does, the three packages, and how to choose yours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531A"/>
                </a:solidFill>
                <a:latin typeface="Rubik" pitchFamily="34" charset="0"/>
                <a:ea typeface="Rubik" pitchFamily="34" charset="-122"/>
                <a:cs typeface="Rubik" pitchFamily="34" charset="-120"/>
              </a:rPr>
              <a:t>HOW IT IS BUILT</a:t>
            </a:r>
            <a:endParaRPr lang="en-US" sz="1400" dirty="0"/>
          </a:p>
        </p:txBody>
      </p:sp>
      <p:sp>
        <p:nvSpPr>
          <p:cNvPr id="3" name="Text 1"/>
          <p:cNvSpPr/>
          <p:nvPr>
            <p:ph type="title"/>
          </p:nvPr>
        </p:nvSpPr>
        <p:spPr>
          <a:xfrm>
            <a:off x="812800" y="136652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One base, two brains to add on</a:t>
            </a:r>
            <a:endParaRPr lang="en-US" sz="4000" dirty="0"/>
          </a:p>
        </p:txBody>
      </p:sp>
      <p:sp>
        <p:nvSpPr>
          <p:cNvPr id="4" name="Shape 2"/>
          <p:cNvSpPr/>
          <p:nvPr/>
        </p:nvSpPr>
        <p:spPr>
          <a:xfrm>
            <a:off x="812800" y="2230120"/>
            <a:ext cx="2859008" cy="1305560"/>
          </a:xfrm>
          <a:prstGeom prst="roundRect">
            <a:avLst>
              <a:gd name="adj" fmla="val 7782"/>
            </a:avLst>
          </a:prstGeom>
          <a:solidFill>
            <a:srgbClr val="2F6FB3"/>
          </a:solidFill>
          <a:ln/>
        </p:spPr>
      </p:sp>
      <p:sp>
        <p:nvSpPr>
          <p:cNvPr id="5" name="Text 3"/>
          <p:cNvSpPr/>
          <p:nvPr/>
        </p:nvSpPr>
        <p:spPr>
          <a:xfrm>
            <a:off x="1041400" y="2458720"/>
            <a:ext cx="247386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2EA"/>
                </a:solidFill>
                <a:latin typeface="Rubik" pitchFamily="34" charset="0"/>
                <a:ea typeface="Rubik" pitchFamily="34" charset="-122"/>
                <a:cs typeface="Rubik" pitchFamily="34" charset="-120"/>
              </a:rPr>
              <a:t>+ Wall follower</a:t>
            </a:r>
            <a:endParaRPr lang="en-US" sz="2000" dirty="0"/>
          </a:p>
        </p:txBody>
      </p:sp>
      <p:sp>
        <p:nvSpPr>
          <p:cNvPr id="6" name="Text 4"/>
          <p:cNvSpPr/>
          <p:nvPr/>
        </p:nvSpPr>
        <p:spPr>
          <a:xfrm>
            <a:off x="1041400" y="2827020"/>
            <a:ext cx="247386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3EDF7"/>
                </a:solidFill>
                <a:latin typeface="Rubik" pitchFamily="34" charset="0"/>
                <a:ea typeface="Rubik" pitchFamily="34" charset="-122"/>
                <a:cs typeface="Rubik" pitchFamily="34" charset="-120"/>
              </a:rPr>
              <a:t>Keeps one hand on a wall and follows it round.</a:t>
            </a:r>
            <a:endParaRPr lang="en-US" sz="1400" dirty="0"/>
          </a:p>
        </p:txBody>
      </p:sp>
      <p:sp>
        <p:nvSpPr>
          <p:cNvPr id="7" name="Shape 5"/>
          <p:cNvSpPr/>
          <p:nvPr/>
        </p:nvSpPr>
        <p:spPr>
          <a:xfrm>
            <a:off x="3824208" y="2230120"/>
            <a:ext cx="2859008" cy="1305560"/>
          </a:xfrm>
          <a:prstGeom prst="roundRect">
            <a:avLst>
              <a:gd name="adj" fmla="val 7782"/>
            </a:avLst>
          </a:prstGeom>
          <a:solidFill>
            <a:srgbClr val="E8772E"/>
          </a:solidFill>
          <a:ln/>
        </p:spPr>
      </p:sp>
      <p:sp>
        <p:nvSpPr>
          <p:cNvPr id="8" name="Text 6"/>
          <p:cNvSpPr/>
          <p:nvPr/>
        </p:nvSpPr>
        <p:spPr>
          <a:xfrm>
            <a:off x="4052808" y="2458720"/>
            <a:ext cx="247386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32B"/>
                </a:solidFill>
                <a:latin typeface="Rubik" pitchFamily="34" charset="0"/>
                <a:ea typeface="Rubik" pitchFamily="34" charset="-122"/>
                <a:cs typeface="Rubik" pitchFamily="34" charset="-120"/>
              </a:rPr>
              <a:t>+ Maze explorer</a:t>
            </a:r>
            <a:endParaRPr lang="en-US" sz="2000" dirty="0"/>
          </a:p>
        </p:txBody>
      </p:sp>
      <p:sp>
        <p:nvSpPr>
          <p:cNvPr id="9" name="Text 7"/>
          <p:cNvSpPr/>
          <p:nvPr/>
        </p:nvSpPr>
        <p:spPr>
          <a:xfrm>
            <a:off x="4052808" y="2827020"/>
            <a:ext cx="247386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0"/>
                </a:solidFill>
                <a:latin typeface="Rubik" pitchFamily="34" charset="0"/>
                <a:ea typeface="Rubik" pitchFamily="34" charset="-122"/>
                <a:cs typeface="Rubik" pitchFamily="34" charset="-120"/>
              </a:rPr>
              <a:t>Maps the course and searches all of it.</a:t>
            </a:r>
            <a:endParaRPr lang="en-US" sz="1400" dirty="0"/>
          </a:p>
        </p:txBody>
      </p:sp>
      <p:sp>
        <p:nvSpPr>
          <p:cNvPr id="10" name="Shape 8"/>
          <p:cNvSpPr/>
          <p:nvPr/>
        </p:nvSpPr>
        <p:spPr>
          <a:xfrm>
            <a:off x="812800" y="3688080"/>
            <a:ext cx="5870416" cy="1065530"/>
          </a:xfrm>
          <a:prstGeom prst="roundRect">
            <a:avLst>
              <a:gd name="adj" fmla="val 9535"/>
            </a:avLst>
          </a:prstGeom>
          <a:solidFill>
            <a:srgbClr val="15232B"/>
          </a:solidFill>
          <a:ln/>
        </p:spPr>
      </p:sp>
      <p:sp>
        <p:nvSpPr>
          <p:cNvPr id="11" name="Text 9"/>
          <p:cNvSpPr/>
          <p:nvPr/>
        </p:nvSpPr>
        <p:spPr>
          <a:xfrm>
            <a:off x="1041400" y="3916680"/>
            <a:ext cx="55756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2EA"/>
                </a:solidFill>
                <a:latin typeface="Rubik" pitchFamily="34" charset="0"/>
                <a:ea typeface="Rubik" pitchFamily="34" charset="-122"/>
                <a:cs typeface="Rubik" pitchFamily="34" charset="-120"/>
              </a:rPr>
              <a:t>Basic functions</a:t>
            </a:r>
            <a:endParaRPr lang="en-US" sz="2000" dirty="0"/>
          </a:p>
        </p:txBody>
      </p:sp>
      <p:sp>
        <p:nvSpPr>
          <p:cNvPr id="12" name="Text 10"/>
          <p:cNvSpPr/>
          <p:nvPr/>
        </p:nvSpPr>
        <p:spPr>
          <a:xfrm>
            <a:off x="1041400" y="4284980"/>
            <a:ext cx="564181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0D6"/>
                </a:solidFill>
                <a:latin typeface="Rubik" pitchFamily="34" charset="0"/>
                <a:ea typeface="Rubik" pitchFamily="34" charset="-122"/>
                <a:cs typeface="Rubik" pitchFamily="34" charset="-120"/>
              </a:rPr>
              <a:t>Movement · distance sensor · colour sensor · setup_check tests</a:t>
            </a:r>
            <a:endParaRPr lang="en-US" sz="1400" dirty="0"/>
          </a:p>
        </p:txBody>
      </p:sp>
      <p:sp>
        <p:nvSpPr>
          <p:cNvPr id="13" name="Shape 11"/>
          <p:cNvSpPr/>
          <p:nvPr/>
        </p:nvSpPr>
        <p:spPr>
          <a:xfrm>
            <a:off x="6943566" y="2236470"/>
            <a:ext cx="4429284" cy="2510790"/>
          </a:xfrm>
          <a:prstGeom prst="roundRect">
            <a:avLst>
              <a:gd name="adj" fmla="val 3794"/>
            </a:avLst>
          </a:prstGeom>
          <a:solidFill>
            <a:srgbClr val="FCFBF7"/>
          </a:solidFill>
          <a:ln w="12700">
            <a:solidFill>
              <a:srgbClr val="9AA3A8"/>
            </a:solidFill>
            <a:prstDash val="dash"/>
          </a:ln>
        </p:spPr>
      </p:sp>
      <p:sp>
        <p:nvSpPr>
          <p:cNvPr id="14" name="Text 12"/>
          <p:cNvSpPr/>
          <p:nvPr/>
        </p:nvSpPr>
        <p:spPr>
          <a:xfrm>
            <a:off x="7201377" y="3014345"/>
            <a:ext cx="403107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32B"/>
                </a:solidFill>
                <a:latin typeface="Rubik" pitchFamily="34" charset="0"/>
                <a:ea typeface="Rubik" pitchFamily="34" charset="-122"/>
                <a:cs typeface="Rubik" pitchFamily="34" charset="-120"/>
              </a:rPr>
              <a:t>The simulator</a:t>
            </a:r>
            <a:endParaRPr lang="en-US" sz="2000" dirty="0"/>
          </a:p>
        </p:txBody>
      </p:sp>
      <p:sp>
        <p:nvSpPr>
          <p:cNvPr id="15" name="Text 13"/>
          <p:cNvSpPr/>
          <p:nvPr/>
        </p:nvSpPr>
        <p:spPr>
          <a:xfrm>
            <a:off x="7201377" y="3471545"/>
            <a:ext cx="4031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Rubik" pitchFamily="34" charset="0"/>
                <a:ea typeface="Rubik" pitchFamily="34" charset="-122"/>
                <a:cs typeface="Rubik" pitchFamily="34" charset="-120"/>
              </a:rPr>
              <a:t>Free for every team. Runs your real program on a computer, with your rover and your course.</a:t>
            </a:r>
            <a:endParaRPr lang="en-US" sz="1400" dirty="0"/>
          </a:p>
        </p:txBody>
      </p:sp>
      <p:sp>
        <p:nvSpPr>
          <p:cNvPr id="16" name="Text 14"/>
          <p:cNvSpPr/>
          <p:nvPr/>
        </p:nvSpPr>
        <p:spPr>
          <a:xfrm>
            <a:off x="812800" y="505841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0"/>
                </a:solidFill>
                <a:latin typeface="Rubik" pitchFamily="34" charset="0"/>
                <a:ea typeface="Rubik" pitchFamily="34" charset="-122"/>
                <a:cs typeface="Rubik" pitchFamily="34" charset="-120"/>
              </a:rPr>
              <a:t>Every package has the basic functions. The two autonomy packages each add one brain on top.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The three packages side by side</a:t>
            </a:r>
            <a:endParaRPr lang="en-US" sz="4000" dirty="0"/>
          </a:p>
        </p:txBody>
      </p:sp>
      <p:sp>
        <p:nvSpPr>
          <p:cNvPr id="3" name="Shape 1"/>
          <p:cNvSpPr/>
          <p:nvPr/>
        </p:nvSpPr>
        <p:spPr>
          <a:xfrm>
            <a:off x="812800" y="1651000"/>
            <a:ext cx="10566400" cy="3296920"/>
          </a:xfrm>
          <a:prstGeom prst="rect">
            <a:avLst/>
          </a:prstGeom>
          <a:solidFill>
            <a:srgbClr val="FCFBF7"/>
          </a:solidFill>
          <a:ln/>
        </p:spPr>
      </p:sp>
      <p:sp>
        <p:nvSpPr>
          <p:cNvPr id="4" name="Shape 2"/>
          <p:cNvSpPr/>
          <p:nvPr/>
        </p:nvSpPr>
        <p:spPr>
          <a:xfrm>
            <a:off x="11376025" y="1651000"/>
            <a:ext cx="0" cy="3296920"/>
          </a:xfrm>
          <a:prstGeom prst="line">
            <a:avLst/>
          </a:prstGeom>
          <a:noFill/>
          <a:ln w="6350">
            <a:solidFill>
              <a:srgbClr val="DCD6C8"/>
            </a:solidFill>
            <a:prstDash val="solid"/>
          </a:ln>
        </p:spPr>
      </p:sp>
      <p:sp>
        <p:nvSpPr>
          <p:cNvPr id="5" name="Shape 3"/>
          <p:cNvSpPr/>
          <p:nvPr/>
        </p:nvSpPr>
        <p:spPr>
          <a:xfrm>
            <a:off x="812800" y="4944745"/>
            <a:ext cx="10566400" cy="0"/>
          </a:xfrm>
          <a:prstGeom prst="line">
            <a:avLst/>
          </a:prstGeom>
          <a:noFill/>
          <a:ln w="6350">
            <a:solidFill>
              <a:srgbClr val="DCD6C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661160"/>
          <a:ext cx="10551160" cy="3281680"/>
        </p:xfrm>
        <a:graphic>
          <a:graphicData uri="http://schemas.openxmlformats.org/drawingml/2006/table">
            <a:tbl>
              <a:tblPr/>
              <a:tblGrid>
                <a:gridCol w="2321255"/>
                <a:gridCol w="2743302"/>
                <a:gridCol w="2743302"/>
                <a:gridCol w="2743302"/>
              </a:tblGrid>
              <a:tr h="410210">
                <a:tc>
                  <a:txBody>
                    <a:bodyPr/>
                    <a:lstStyle/>
                    <a:p>
                      <a:pPr indent="0" marL="0">
                        <a:lnSpc>
                          <a:spcPts val="2100"/>
                        </a:lnSpc>
                        <a:buNone/>
                      </a:pP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15202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52026"/>
                      </a:solidFill>
                      <a:prstDash val="solid"/>
                      <a:round/>
                      <a:headEnd type="none" w="med" len="med"/>
                      <a:tailEnd type="none" w="med" len="med"/>
                    </a:lnB>
                    <a:solidFill>
                      <a:srgbClr val="15232B"/>
                    </a:solidFill>
                  </a:tcPr>
                </a:tc>
                <a:tc>
                  <a:txBody>
                    <a:bodyPr/>
                    <a:lstStyle/>
                    <a:p>
                      <a:pPr indent="0" marL="0">
                        <a:lnSpc>
                          <a:spcPts val="2100"/>
                        </a:lnSpc>
                        <a:buNone/>
                      </a:pPr>
                      <a:r>
                        <a:rPr lang="en-US" sz="1500" b="1" dirty="0">
                          <a:solidFill>
                            <a:srgbClr val="F5F2EA"/>
                          </a:solidFill>
                          <a:latin typeface="Rubik" pitchFamily="34" charset="0"/>
                          <a:ea typeface="Rubik" pitchFamily="34" charset="-122"/>
                          <a:cs typeface="Rubik" pitchFamily="34" charset="-120"/>
                        </a:rPr>
                        <a:t>Basic functions</a:t>
                      </a:r>
                      <a:endParaRPr lang="en-US" sz="1500" dirty="0">
                        <a:latin typeface="Rubik" charset="0"/>
                        <a:ea typeface="Rubik" charset="0"/>
                        <a:cs typeface="Rubik" charset="0"/>
                      </a:endParaRPr>
                    </a:p>
                  </a:txBody>
                  <a:tcPr marL="66675" marR="66675" marT="66675" marB="66675" anchor="t">
                    <a:lnL w="12700" cap="flat" cmpd="sng" algn="ctr">
                      <a:solidFill>
                        <a:srgbClr val="152026"/>
                      </a:solidFill>
                      <a:prstDash val="solid"/>
                      <a:round/>
                      <a:headEnd type="none" w="med" len="med"/>
                      <a:tailEnd type="none" w="med" len="med"/>
                    </a:lnL>
                    <a:lnR w="12700" cap="flat" cmpd="sng" algn="ctr">
                      <a:solidFill>
                        <a:srgbClr val="15202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52026"/>
                      </a:solidFill>
                      <a:prstDash val="solid"/>
                      <a:round/>
                      <a:headEnd type="none" w="med" len="med"/>
                      <a:tailEnd type="none" w="med" len="med"/>
                    </a:lnB>
                    <a:solidFill>
                      <a:srgbClr val="15232B"/>
                    </a:solidFill>
                  </a:tcPr>
                </a:tc>
                <a:tc>
                  <a:txBody>
                    <a:bodyPr/>
                    <a:lstStyle/>
                    <a:p>
                      <a:pPr indent="0" marL="0">
                        <a:lnSpc>
                          <a:spcPts val="2100"/>
                        </a:lnSpc>
                        <a:buNone/>
                      </a:pPr>
                      <a:r>
                        <a:rPr lang="en-US" sz="1500" b="1" dirty="0">
                          <a:solidFill>
                            <a:srgbClr val="F5F2EA"/>
                          </a:solidFill>
                          <a:latin typeface="Rubik" pitchFamily="34" charset="0"/>
                          <a:ea typeface="Rubik" pitchFamily="34" charset="-122"/>
                          <a:cs typeface="Rubik" pitchFamily="34" charset="-120"/>
                        </a:rPr>
                        <a:t>Wall follower</a:t>
                      </a:r>
                      <a:endParaRPr lang="en-US" sz="1500" dirty="0">
                        <a:latin typeface="Rubik" charset="0"/>
                        <a:ea typeface="Rubik" charset="0"/>
                        <a:cs typeface="Rubik" charset="0"/>
                      </a:endParaRPr>
                    </a:p>
                  </a:txBody>
                  <a:tcPr marL="66675" marR="66675" marT="66675" marB="66675" anchor="t">
                    <a:lnL w="12700" cap="flat" cmpd="sng" algn="ctr">
                      <a:solidFill>
                        <a:srgbClr val="152026"/>
                      </a:solidFill>
                      <a:prstDash val="solid"/>
                      <a:round/>
                      <a:headEnd type="none" w="med" len="med"/>
                      <a:tailEnd type="none" w="med" len="med"/>
                    </a:lnL>
                    <a:lnR w="12700" cap="flat" cmpd="sng" algn="ctr">
                      <a:solidFill>
                        <a:srgbClr val="15202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52026"/>
                      </a:solidFill>
                      <a:prstDash val="solid"/>
                      <a:round/>
                      <a:headEnd type="none" w="med" len="med"/>
                      <a:tailEnd type="none" w="med" len="med"/>
                    </a:lnB>
                    <a:solidFill>
                      <a:srgbClr val="15232B"/>
                    </a:solidFill>
                  </a:tcPr>
                </a:tc>
                <a:tc>
                  <a:txBody>
                    <a:bodyPr/>
                    <a:lstStyle/>
                    <a:p>
                      <a:pPr indent="0" marL="0">
                        <a:lnSpc>
                          <a:spcPts val="2100"/>
                        </a:lnSpc>
                        <a:buNone/>
                      </a:pPr>
                      <a:r>
                        <a:rPr lang="en-US" sz="1500" b="1" dirty="0">
                          <a:solidFill>
                            <a:srgbClr val="F5F2EA"/>
                          </a:solidFill>
                          <a:latin typeface="Rubik" pitchFamily="34" charset="0"/>
                          <a:ea typeface="Rubik" pitchFamily="34" charset="-122"/>
                          <a:cs typeface="Rubik" pitchFamily="34" charset="-120"/>
                        </a:rPr>
                        <a:t>Maze explorer</a:t>
                      </a:r>
                      <a:endParaRPr lang="en-US" sz="1500" dirty="0">
                        <a:latin typeface="Rubik" charset="0"/>
                        <a:ea typeface="Rubik" charset="0"/>
                        <a:cs typeface="Rubik" charset="0"/>
                      </a:endParaRPr>
                    </a:p>
                  </a:txBody>
                  <a:tcPr marL="66675" marR="66675" marT="66675" marB="66675" anchor="t">
                    <a:lnL w="12700" cap="flat" cmpd="sng" algn="ctr">
                      <a:solidFill>
                        <a:srgbClr val="152026"/>
                      </a:solidFill>
                      <a:prstDash val="solid"/>
                      <a:round/>
                      <a:headEnd type="none" w="med" len="med"/>
                      <a:tailEnd type="none" w="med" len="med"/>
                    </a:lnL>
                    <a:lnR w="12700" cap="flat" cmpd="sng" algn="ctr">
                      <a:solidFill>
                        <a:srgbClr val="15202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52026"/>
                      </a:solidFill>
                      <a:prstDash val="solid"/>
                      <a:round/>
                      <a:headEnd type="none" w="med" len="med"/>
                      <a:tailEnd type="none" w="med" len="med"/>
                    </a:lnB>
                    <a:solidFill>
                      <a:srgbClr val="15232B"/>
                    </a:solidFill>
                  </a:tcPr>
                </a:tc>
              </a:tr>
              <a:tr h="410210">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Plans the route</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52026"/>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You</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52026"/>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The rover</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52026"/>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The rover</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52026"/>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410210">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How</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Your list of moves</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One hand on the wall</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Draws a map, searches it</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r>
              <a:tr h="410210">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Patches by walls</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If your route passes</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Yes</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Yes</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410210">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Patches in the open</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If your route passes</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Missed</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Yes</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r>
              <a:tr h="410210">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Colours in order</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Yes, you code it</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No: as it meets them</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Yes: explore(find=…)</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410210">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Time for a run</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Fastest</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Medium</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Slowest: minutes</a:t>
                      </a:r>
                      <a:endParaRPr lang="en-US" sz="1500" dirty="0">
                        <a:latin typeface="Rubik" charset="0"/>
                        <a:ea typeface="Rubik" charset="0"/>
                        <a:cs typeface="Rubik" charset="0"/>
                      </a:endParaRPr>
                    </a:p>
                  </a:txBody>
                  <a:tcPr marL="66675" marR="66675" marT="66675" marB="66675"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CE0"/>
                    </a:solidFill>
                  </a:tcPr>
                </a:tc>
              </a:tr>
              <a:tr h="410210">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Price</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[price]</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[price]</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2100"/>
                        </a:lnSpc>
                        <a:buNone/>
                      </a:pPr>
                      <a:r>
                        <a:rPr lang="en-US" sz="1500" dirty="0">
                          <a:solidFill>
                            <a:srgbClr val="15232B"/>
                          </a:solidFill>
                          <a:latin typeface="Rubik" pitchFamily="34" charset="0"/>
                          <a:ea typeface="Rubik" pitchFamily="34" charset="-122"/>
                          <a:cs typeface="Rubik" pitchFamily="34" charset="-120"/>
                        </a:rPr>
                        <a:t>[price]</a:t>
                      </a:r>
                      <a:endParaRPr lang="en-US" sz="1500" dirty="0">
                        <a:latin typeface="Rubik" charset="0"/>
                        <a:ea typeface="Rubik" charset="0"/>
                        <a:cs typeface="Rubik" charset="0"/>
                      </a:endParaRPr>
                    </a:p>
                  </a:txBody>
                  <a:tcPr marL="66675" marR="66675" marT="66675" marB="6667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4A5560"/>
                </a:solidFill>
                <a:latin typeface="Rubik" pitchFamily="34" charset="0"/>
                <a:ea typeface="Rubik" pitchFamily="34" charset="-122"/>
                <a:cs typeface="Rubik" pitchFamily="34" charset="-120"/>
              </a:rPr>
              <a:t>PACKAGE 1 · BASIC FUNCTIONS</a:t>
            </a:r>
            <a:endParaRPr lang="en-US" sz="1400" dirty="0"/>
          </a:p>
        </p:txBody>
      </p:sp>
      <p:sp>
        <p:nvSpPr>
          <p:cNvPr id="3" name="Text 1"/>
          <p:cNvSpPr/>
          <p:nvPr>
            <p:ph type="title"/>
          </p:nvPr>
        </p:nvSpPr>
        <p:spPr>
          <a:xfrm>
            <a:off x="812800" y="134112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You plan the route, it drives it accurately</a:t>
            </a:r>
            <a:endParaRPr lang="en-US" sz="4000" dirty="0"/>
          </a:p>
        </p:txBody>
      </p:sp>
      <p:sp>
        <p:nvSpPr>
          <p:cNvPr id="4" name="Text 2"/>
          <p:cNvSpPr/>
          <p:nvPr/>
        </p:nvSpPr>
        <p:spPr>
          <a:xfrm>
            <a:off x="812800" y="2179320"/>
            <a:ext cx="499694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5232B"/>
                </a:solidFill>
                <a:latin typeface="Rubik" pitchFamily="34" charset="0"/>
                <a:ea typeface="Rubik" pitchFamily="34" charset="-122"/>
                <a:cs typeface="Rubik" pitchFamily="34" charset="-120"/>
              </a:rPr>
              <a:t>You write the route as a list of moves. The software makes every move exact.</a:t>
            </a:r>
            <a:endParaRPr lang="en-US" sz="1600" dirty="0"/>
          </a:p>
        </p:txBody>
      </p:sp>
      <p:sp>
        <p:nvSpPr>
          <p:cNvPr id="5" name="Shape 3"/>
          <p:cNvSpPr/>
          <p:nvPr/>
        </p:nvSpPr>
        <p:spPr>
          <a:xfrm>
            <a:off x="831850" y="2926080"/>
            <a:ext cx="0" cy="840740"/>
          </a:xfrm>
          <a:prstGeom prst="line">
            <a:avLst/>
          </a:prstGeom>
          <a:noFill/>
          <a:ln w="38100">
            <a:solidFill>
              <a:srgbClr val="2E8B4C"/>
            </a:solidFill>
            <a:prstDash val="solid"/>
          </a:ln>
        </p:spPr>
      </p:sp>
      <p:sp>
        <p:nvSpPr>
          <p:cNvPr id="6" name="Text 4"/>
          <p:cNvSpPr/>
          <p:nvPr/>
        </p:nvSpPr>
        <p:spPr>
          <a:xfrm>
            <a:off x="1000760" y="295148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6B3A"/>
                </a:solidFill>
                <a:latin typeface="Rubik" pitchFamily="34" charset="0"/>
                <a:ea typeface="Rubik" pitchFamily="34" charset="-122"/>
                <a:cs typeface="Rubik" pitchFamily="34" charset="-120"/>
              </a:rPr>
              <a:t>Good for</a:t>
            </a:r>
            <a:endParaRPr lang="en-US" sz="1700" dirty="0"/>
          </a:p>
        </p:txBody>
      </p:sp>
      <p:sp>
        <p:nvSpPr>
          <p:cNvPr id="7" name="Text 5"/>
          <p:cNvSpPr/>
          <p:nvPr/>
        </p:nvSpPr>
        <p:spPr>
          <a:xfrm>
            <a:off x="1000760" y="3261361"/>
            <a:ext cx="480334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Teams who are confident in the coding, know the course well and want the fastest run.</a:t>
            </a:r>
            <a:endParaRPr lang="en-US" sz="1400" dirty="0"/>
          </a:p>
        </p:txBody>
      </p:sp>
      <p:sp>
        <p:nvSpPr>
          <p:cNvPr id="8" name="Shape 6"/>
          <p:cNvSpPr/>
          <p:nvPr/>
        </p:nvSpPr>
        <p:spPr>
          <a:xfrm>
            <a:off x="831850" y="3944620"/>
            <a:ext cx="0" cy="840740"/>
          </a:xfrm>
          <a:prstGeom prst="line">
            <a:avLst/>
          </a:prstGeom>
          <a:noFill/>
          <a:ln w="38100">
            <a:solidFill>
              <a:srgbClr val="B4531A"/>
            </a:solidFill>
            <a:prstDash val="solid"/>
          </a:ln>
        </p:spPr>
      </p:sp>
      <p:sp>
        <p:nvSpPr>
          <p:cNvPr id="9" name="Text 7"/>
          <p:cNvSpPr/>
          <p:nvPr/>
        </p:nvSpPr>
        <p:spPr>
          <a:xfrm>
            <a:off x="1000760" y="397002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31A"/>
                </a:solidFill>
                <a:latin typeface="Rubik" pitchFamily="34" charset="0"/>
                <a:ea typeface="Rubik" pitchFamily="34" charset="-122"/>
                <a:cs typeface="Rubik" pitchFamily="34" charset="-120"/>
              </a:rPr>
              <a:t>Watch out</a:t>
            </a:r>
            <a:endParaRPr lang="en-US" sz="1700" dirty="0"/>
          </a:p>
        </p:txBody>
      </p:sp>
      <p:sp>
        <p:nvSpPr>
          <p:cNvPr id="10" name="Text 8"/>
          <p:cNvSpPr/>
          <p:nvPr/>
        </p:nvSpPr>
        <p:spPr>
          <a:xfrm>
            <a:off x="1000760" y="4279900"/>
            <a:ext cx="480334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Anything unexpected breaks the plan. Drive up to walls, so small errors do not add up.</a:t>
            </a:r>
            <a:endParaRPr lang="en-US" sz="1400" dirty="0"/>
          </a:p>
        </p:txBody>
      </p:sp>
      <p:sp>
        <p:nvSpPr>
          <p:cNvPr id="11" name="Shape 9"/>
          <p:cNvSpPr/>
          <p:nvPr/>
        </p:nvSpPr>
        <p:spPr>
          <a:xfrm>
            <a:off x="5969000" y="2179320"/>
            <a:ext cx="5410200" cy="2877820"/>
          </a:xfrm>
          <a:prstGeom prst="roundRect">
            <a:avLst>
              <a:gd name="adj" fmla="val 3530"/>
            </a:avLst>
          </a:prstGeom>
          <a:solidFill>
            <a:srgbClr val="15232B"/>
          </a:solidFill>
          <a:ln/>
        </p:spPr>
      </p:sp>
      <p:sp>
        <p:nvSpPr>
          <p:cNvPr id="12" name="Text 10"/>
          <p:cNvSpPr/>
          <p:nvPr/>
        </p:nvSpPr>
        <p:spPr>
          <a:xfrm>
            <a:off x="6248400" y="2458720"/>
            <a:ext cx="4996942" cy="1797050"/>
          </a:xfrm>
          <a:prstGeom prst="rect">
            <a:avLst/>
          </a:prstGeom>
          <a:noFill/>
          <a:ln/>
        </p:spPr>
        <p:txBody>
          <a:bodyPr wrap="square" lIns="0" tIns="0" rIns="0" bIns="0" rtlCol="0" anchor="t">
            <a:normAutofit/>
          </a:bodyPr>
          <a:lstStyle/>
          <a:p>
            <a:pPr algn="l" indent="0" marL="0">
              <a:lnSpc>
                <a:spcPts val="2325"/>
              </a:lnSpc>
              <a:buNone/>
            </a:pPr>
            <a:r>
              <a:rPr lang="en-US" sz="1500" dirty="0">
                <a:solidFill>
                  <a:srgbClr val="F5F2EA"/>
                </a:solidFill>
                <a:latin typeface="Courier New" pitchFamily="49" charset="0"/>
                <a:ea typeface="Courier New" pitchFamily="49" charset="-122"/>
                <a:cs typeface="Courier New" pitchFamily="49" charset="-120"/>
              </a:rPr>
              <a:t>async def my_program():</a:t>
            </a:r>
            <a:endParaRPr lang="en-US" sz="1500" dirty="0"/>
          </a:p>
          <a:p>
            <a:pPr algn="l" indent="0" marL="0">
              <a:lnSpc>
                <a:spcPts val="2325"/>
              </a:lnSpc>
              <a:buNone/>
            </a:pPr>
            <a:r>
              <a:rPr lang="en-US" sz="1500" dirty="0">
                <a:solidFill>
                  <a:srgbClr val="F5F2EA"/>
                </a:solidFill>
                <a:latin typeface="Courier New" pitchFamily="49" charset="0"/>
                <a:ea typeface="Courier New" pitchFamily="49" charset="-122"/>
                <a:cs typeface="Courier New" pitchFamily="49" charset="-120"/>
              </a:rPr>
              <a:t>    await drive_forward(60)</a:t>
            </a:r>
            <a:endParaRPr lang="en-US" sz="1500" dirty="0"/>
          </a:p>
          <a:p>
            <a:pPr algn="l" indent="0" marL="0">
              <a:lnSpc>
                <a:spcPts val="2325"/>
              </a:lnSpc>
              <a:buNone/>
            </a:pPr>
            <a:r>
              <a:rPr lang="en-US" sz="1500" dirty="0">
                <a:solidFill>
                  <a:srgbClr val="F5F2EA"/>
                </a:solidFill>
                <a:latin typeface="Courier New" pitchFamily="49" charset="0"/>
                <a:ea typeface="Courier New" pitchFamily="49" charset="-122"/>
                <a:cs typeface="Courier New" pitchFamily="49" charset="-120"/>
              </a:rPr>
              <a:t>    await turn_to(WEST)</a:t>
            </a:r>
            <a:endParaRPr lang="en-US" sz="1500" dirty="0"/>
          </a:p>
          <a:p>
            <a:pPr algn="l" indent="0" marL="0">
              <a:lnSpc>
                <a:spcPts val="2325"/>
              </a:lnSpc>
              <a:buNone/>
            </a:pPr>
            <a:r>
              <a:rPr lang="en-US" sz="1500" dirty="0">
                <a:solidFill>
                  <a:srgbClr val="F5F2EA"/>
                </a:solidFill>
                <a:latin typeface="Courier New" pitchFamily="49" charset="0"/>
                <a:ea typeface="Courier New" pitchFamily="49" charset="-122"/>
                <a:cs typeface="Courier New" pitchFamily="49" charset="-120"/>
              </a:rPr>
              <a:t>    await drive_to_wall(15)</a:t>
            </a:r>
            <a:endParaRPr lang="en-US" sz="1500" dirty="0"/>
          </a:p>
          <a:p>
            <a:pPr algn="l" indent="0" marL="0">
              <a:lnSpc>
                <a:spcPts val="2325"/>
              </a:lnSpc>
              <a:buNone/>
            </a:pPr>
            <a:r>
              <a:rPr lang="en-US" sz="1500" dirty="0">
                <a:solidFill>
                  <a:srgbClr val="F5F2EA"/>
                </a:solidFill>
                <a:latin typeface="Courier New" pitchFamily="49" charset="0"/>
                <a:ea typeface="Courier New" pitchFamily="49" charset="-122"/>
                <a:cs typeface="Courier New" pitchFamily="49" charset="-120"/>
              </a:rPr>
              <a:t>    await turn_to(NORTH)</a:t>
            </a:r>
            <a:endParaRPr lang="en-US" sz="1500" dirty="0"/>
          </a:p>
          <a:p>
            <a:pPr algn="l" indent="0" marL="0">
              <a:lnSpc>
                <a:spcPts val="2325"/>
              </a:lnSpc>
              <a:buNone/>
            </a:pPr>
            <a:r>
              <a:rPr lang="en-US" sz="1500" dirty="0">
                <a:solidFill>
                  <a:srgbClr val="F5F2EA"/>
                </a:solidFill>
                <a:latin typeface="Courier New" pitchFamily="49" charset="0"/>
                <a:ea typeface="Courier New" pitchFamily="49" charset="-122"/>
                <a:cs typeface="Courier New" pitchFamily="49" charset="-120"/>
              </a:rPr>
              <a:t>    await drive_forward(80)</a:t>
            </a:r>
            <a:endParaRPr lang="en-US" sz="1500" dirty="0"/>
          </a:p>
        </p:txBody>
      </p:sp>
      <p:sp>
        <p:nvSpPr>
          <p:cNvPr id="13" name="Text 11"/>
          <p:cNvSpPr/>
          <p:nvPr/>
        </p:nvSpPr>
        <p:spPr>
          <a:xfrm>
            <a:off x="6248400" y="4331970"/>
            <a:ext cx="499694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9FB2B9"/>
                </a:solidFill>
                <a:latin typeface="Rubik" pitchFamily="34" charset="0"/>
                <a:ea typeface="Rubik" pitchFamily="34" charset="-122"/>
                <a:cs typeface="Rubik" pitchFamily="34" charset="-120"/>
              </a:rPr>
              <a:t>60 cm ahead, face west, drive on until 15 cm from the wall, face north, 80 cm more.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68684"/>
          </a:xfrm>
          <a:prstGeom prst="rect">
            <a:avLst/>
          </a:prstGeom>
          <a:noFill/>
          <a:ln/>
        </p:spPr>
        <p:txBody>
          <a:bodyPr wrap="square" lIns="0" tIns="0" rIns="0" bIns="0" rtlCol="0" anchor="t">
            <a:normAutofit/>
          </a:bodyPr>
          <a:lstStyle/>
          <a:p>
            <a:pPr algn="l" indent="0" marL="0">
              <a:lnSpc>
                <a:spcPts val="1923"/>
              </a:lnSpc>
              <a:buNone/>
            </a:pPr>
            <a:r>
              <a:rPr lang="en-US" sz="1374" b="1" spc="150" kern="0" dirty="0">
                <a:solidFill>
                  <a:srgbClr val="2F6FB3"/>
                </a:solidFill>
                <a:latin typeface="Rubik" pitchFamily="34" charset="0"/>
                <a:ea typeface="Rubik" pitchFamily="34" charset="-122"/>
                <a:cs typeface="Rubik" pitchFamily="34" charset="-120"/>
              </a:rPr>
              <a:t>PACKAGE 2 · WALL FOLLOWER</a:t>
            </a:r>
            <a:endParaRPr lang="en-US" sz="1374" dirty="0"/>
          </a:p>
        </p:txBody>
      </p:sp>
      <p:sp>
        <p:nvSpPr>
          <p:cNvPr id="3" name="Text 1"/>
          <p:cNvSpPr/>
          <p:nvPr>
            <p:ph type="title"/>
          </p:nvPr>
        </p:nvSpPr>
        <p:spPr>
          <a:xfrm>
            <a:off x="812800" y="1310084"/>
            <a:ext cx="10883392" cy="571659"/>
          </a:xfrm>
          <a:prstGeom prst="rect">
            <a:avLst/>
          </a:prstGeom>
          <a:noFill/>
          <a:ln/>
        </p:spPr>
        <p:txBody>
          <a:bodyPr wrap="square" lIns="0" tIns="0" rIns="0" bIns="0" rtlCol="0" anchor="t">
            <a:normAutofit/>
          </a:bodyPr>
          <a:lstStyle/>
          <a:p>
            <a:pPr algn="l" indent="0" marL="0">
              <a:lnSpc>
                <a:spcPts val="4318"/>
              </a:lnSpc>
              <a:buNone/>
            </a:pPr>
            <a:r>
              <a:rPr lang="en-US" sz="3925" b="1" i="0" dirty="0">
                <a:solidFill>
                  <a:srgbClr val="15232B"/>
                </a:solidFill>
                <a:latin typeface="Arial" pitchFamily="34" charset="0"/>
                <a:ea typeface="Arial" pitchFamily="34" charset="-122"/>
                <a:cs typeface="Arial" pitchFamily="34" charset="-120"/>
              </a:rPr>
              <a:t>One hand on the wall, all the way round</a:t>
            </a:r>
            <a:endParaRPr lang="en-US" sz="3925" dirty="0"/>
          </a:p>
        </p:txBody>
      </p:sp>
      <p:sp>
        <p:nvSpPr>
          <p:cNvPr id="4" name="Text 2"/>
          <p:cNvSpPr/>
          <p:nvPr/>
        </p:nvSpPr>
        <p:spPr>
          <a:xfrm>
            <a:off x="854154" y="2110343"/>
            <a:ext cx="6465364" cy="1358900"/>
          </a:xfrm>
          <a:prstGeom prst="rect">
            <a:avLst/>
          </a:prstGeom>
          <a:noFill/>
          <a:ln/>
        </p:spPr>
        <p:txBody>
          <a:bodyPr wrap="square" lIns="0" tIns="0" rIns="0" bIns="0" rtlCol="0" anchor="t">
            <a:normAutofit/>
          </a:bodyPr>
          <a:lstStyle/>
          <a:p>
            <a:pPr algn="l" marL="212646" indent="-212646">
              <a:lnSpc>
                <a:spcPts val="2100"/>
              </a:lnSpc>
              <a:buSzPct val="100000"/>
              <a:buFontTx/>
              <a:buAutoNum type="arabicPeriod" startAt="1"/>
            </a:pPr>
            <a:r>
              <a:rPr lang="en-US" sz="1500" dirty="0">
                <a:solidFill>
                  <a:srgbClr val="15232B"/>
                </a:solidFill>
                <a:latin typeface="Rubik" pitchFamily="34" charset="0"/>
                <a:ea typeface="Rubik" pitchFamily="34" charset="-122"/>
                <a:cs typeface="Rubik" pitchFamily="34" charset="-120"/>
              </a:rPr>
              <a:t>Drive straight on until there is a wall ahead.</a:t>
            </a:r>
            <a:endParaRPr lang="en-US" sz="1500" dirty="0"/>
          </a:p>
          <a:p>
            <a:pPr algn="l" marL="212646" indent="-212646">
              <a:lnSpc>
                <a:spcPts val="2100"/>
              </a:lnSpc>
              <a:buSzPct val="100000"/>
              <a:buFontTx/>
              <a:buAutoNum type="arabicPeriod" startAt="1"/>
            </a:pPr>
            <a:r>
              <a:rPr lang="en-US" sz="1500" dirty="0">
                <a:solidFill>
                  <a:srgbClr val="15232B"/>
                </a:solidFill>
                <a:latin typeface="Rubik" pitchFamily="34" charset="0"/>
                <a:ea typeface="Rubik" pitchFamily="34" charset="-122"/>
                <a:cs typeface="Rubik" pitchFamily="34" charset="-120"/>
              </a:rPr>
              <a:t>Turn so the wall is on your chosen hand.</a:t>
            </a:r>
            <a:endParaRPr lang="en-US" sz="1500" dirty="0"/>
          </a:p>
          <a:p>
            <a:pPr algn="l" marL="212646" indent="-212646">
              <a:lnSpc>
                <a:spcPts val="2100"/>
              </a:lnSpc>
              <a:buSzPct val="100000"/>
              <a:buFontTx/>
              <a:buAutoNum type="arabicPeriod" startAt="1"/>
            </a:pPr>
            <a:r>
              <a:rPr lang="en-US" sz="1500" dirty="0">
                <a:solidFill>
                  <a:srgbClr val="15232B"/>
                </a:solidFill>
                <a:latin typeface="Rubik" pitchFamily="34" charset="0"/>
                <a:ea typeface="Rubik" pitchFamily="34" charset="-122"/>
                <a:cs typeface="Rubik" pitchFamily="34" charset="-120"/>
              </a:rPr>
              <a:t>At every square, try: towards the hand, straight on, away from the hand, back.</a:t>
            </a:r>
            <a:endParaRPr lang="en-US" sz="1500" dirty="0"/>
          </a:p>
          <a:p>
            <a:pPr algn="l" marL="212646" indent="-212646">
              <a:lnSpc>
                <a:spcPts val="2100"/>
              </a:lnSpc>
              <a:buSzPct val="100000"/>
              <a:buFontTx/>
              <a:buAutoNum type="arabicPeriod" startAt="1"/>
            </a:pPr>
            <a:r>
              <a:rPr lang="en-US" sz="1500" dirty="0">
                <a:solidFill>
                  <a:srgbClr val="15232B"/>
                </a:solidFill>
                <a:latin typeface="Rubik" pitchFamily="34" charset="0"/>
                <a:ea typeface="Rubik" pitchFamily="34" charset="-122"/>
                <a:cs typeface="Rubik" pitchFamily="34" charset="-120"/>
              </a:rPr>
              <a:t>Stop when back at the very first move.</a:t>
            </a:r>
            <a:endParaRPr lang="en-US" sz="1500" dirty="0"/>
          </a:p>
        </p:txBody>
      </p:sp>
      <p:sp>
        <p:nvSpPr>
          <p:cNvPr id="5" name="Shape 3"/>
          <p:cNvSpPr/>
          <p:nvPr/>
        </p:nvSpPr>
        <p:spPr>
          <a:xfrm>
            <a:off x="831850" y="3596243"/>
            <a:ext cx="0" cy="600710"/>
          </a:xfrm>
          <a:prstGeom prst="line">
            <a:avLst/>
          </a:prstGeom>
          <a:noFill/>
          <a:ln w="38100">
            <a:solidFill>
              <a:srgbClr val="2E8B4C"/>
            </a:solidFill>
            <a:prstDash val="solid"/>
          </a:ln>
        </p:spPr>
      </p:sp>
      <p:sp>
        <p:nvSpPr>
          <p:cNvPr id="6" name="Text 4"/>
          <p:cNvSpPr/>
          <p:nvPr/>
        </p:nvSpPr>
        <p:spPr>
          <a:xfrm>
            <a:off x="1000760" y="3621643"/>
            <a:ext cx="632073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6B3A"/>
                </a:solidFill>
                <a:latin typeface="Rubik" pitchFamily="34" charset="0"/>
                <a:ea typeface="Rubik" pitchFamily="34" charset="-122"/>
                <a:cs typeface="Rubik" pitchFamily="34" charset="-120"/>
              </a:rPr>
              <a:t>Good for</a:t>
            </a:r>
            <a:endParaRPr lang="en-US" sz="1700" dirty="0"/>
          </a:p>
        </p:txBody>
      </p:sp>
      <p:sp>
        <p:nvSpPr>
          <p:cNvPr id="7" name="Text 5"/>
          <p:cNvSpPr/>
          <p:nvPr/>
        </p:nvSpPr>
        <p:spPr>
          <a:xfrm>
            <a:off x="1000760" y="3931524"/>
            <a:ext cx="632073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Simple and predictable. Needs no map. Finds patches next to walls.</a:t>
            </a:r>
            <a:endParaRPr lang="en-US" sz="1400" dirty="0"/>
          </a:p>
        </p:txBody>
      </p:sp>
      <p:sp>
        <p:nvSpPr>
          <p:cNvPr id="8" name="Shape 6"/>
          <p:cNvSpPr/>
          <p:nvPr/>
        </p:nvSpPr>
        <p:spPr>
          <a:xfrm>
            <a:off x="831850" y="4349353"/>
            <a:ext cx="0" cy="600710"/>
          </a:xfrm>
          <a:prstGeom prst="line">
            <a:avLst/>
          </a:prstGeom>
          <a:noFill/>
          <a:ln w="38100">
            <a:solidFill>
              <a:srgbClr val="B4531A"/>
            </a:solidFill>
            <a:prstDash val="solid"/>
          </a:ln>
        </p:spPr>
      </p:sp>
      <p:sp>
        <p:nvSpPr>
          <p:cNvPr id="9" name="Text 7"/>
          <p:cNvSpPr/>
          <p:nvPr/>
        </p:nvSpPr>
        <p:spPr>
          <a:xfrm>
            <a:off x="1000760" y="4374753"/>
            <a:ext cx="632073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31A"/>
                </a:solidFill>
                <a:latin typeface="Rubik" pitchFamily="34" charset="0"/>
                <a:ea typeface="Rubik" pitchFamily="34" charset="-122"/>
                <a:cs typeface="Rubik" pitchFamily="34" charset="-120"/>
              </a:rPr>
              <a:t>Watch out</a:t>
            </a:r>
            <a:endParaRPr lang="en-US" sz="1700" dirty="0"/>
          </a:p>
        </p:txBody>
      </p:sp>
      <p:sp>
        <p:nvSpPr>
          <p:cNvPr id="10" name="Text 8"/>
          <p:cNvSpPr/>
          <p:nvPr/>
        </p:nvSpPr>
        <p:spPr>
          <a:xfrm>
            <a:off x="1000760" y="4684635"/>
            <a:ext cx="632073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Misses patches in the open, and walls not joined to the rest.</a:t>
            </a:r>
            <a:endParaRPr lang="en-US" sz="1400" dirty="0"/>
          </a:p>
        </p:txBody>
      </p:sp>
      <p:pic>
        <p:nvPicPr>
          <p:cNvPr id="11" name="Image 0" descr="A course seen from above. The rover's path runs along the walls; it passes a patch in a corner and misses a patch in the middle of the floor.">    </p:cNvPr>
          <p:cNvPicPr>
            <a:picLocks noChangeAspect="1"/>
          </p:cNvPicPr>
          <p:nvPr/>
        </p:nvPicPr>
        <p:blipFill>
          <a:blip r:embed="rId1"/>
          <a:srcRect l="0" r="0" t="0" b="0"/>
          <a:stretch/>
        </p:blipFill>
        <p:spPr>
          <a:xfrm>
            <a:off x="7493000" y="2110343"/>
            <a:ext cx="3886200" cy="3022600"/>
          </a:xfrm>
          <a:prstGeom prst="rect">
            <a:avLst/>
          </a:prstGeom>
        </p:spPr>
      </p:pic>
      <p:sp>
        <p:nvSpPr>
          <p:cNvPr id="12" name="Text 9"/>
          <p:cNvSpPr/>
          <p:nvPr/>
        </p:nvSpPr>
        <p:spPr>
          <a:xfrm>
            <a:off x="7493000" y="5234543"/>
            <a:ext cx="400278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Rubik" pitchFamily="34" charset="0"/>
                <a:ea typeface="Rubik" pitchFamily="34" charset="-122"/>
                <a:cs typeface="Rubik" pitchFamily="34" charset="-120"/>
              </a:rPr>
              <a:t>Blue: the rover’s path (right hand on the wall). It finds the green patch by the wall, and misses the red one in the open.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68684"/>
          </a:xfrm>
          <a:prstGeom prst="rect">
            <a:avLst/>
          </a:prstGeom>
          <a:noFill/>
          <a:ln/>
        </p:spPr>
        <p:txBody>
          <a:bodyPr wrap="square" lIns="0" tIns="0" rIns="0" bIns="0" rtlCol="0" anchor="t">
            <a:normAutofit/>
          </a:bodyPr>
          <a:lstStyle/>
          <a:p>
            <a:pPr algn="l" indent="0" marL="0">
              <a:lnSpc>
                <a:spcPts val="1923"/>
              </a:lnSpc>
              <a:buNone/>
            </a:pPr>
            <a:r>
              <a:rPr lang="en-US" sz="1374" b="1" spc="150" kern="0" dirty="0">
                <a:solidFill>
                  <a:srgbClr val="B4531A"/>
                </a:solidFill>
                <a:latin typeface="Rubik" pitchFamily="34" charset="0"/>
                <a:ea typeface="Rubik" pitchFamily="34" charset="-122"/>
                <a:cs typeface="Rubik" pitchFamily="34" charset="-120"/>
              </a:rPr>
              <a:t>PACKAGE 3 · MAZE EXPLORER</a:t>
            </a:r>
            <a:endParaRPr lang="en-US" sz="1374" dirty="0"/>
          </a:p>
        </p:txBody>
      </p:sp>
      <p:sp>
        <p:nvSpPr>
          <p:cNvPr id="3" name="Text 1"/>
          <p:cNvSpPr/>
          <p:nvPr>
            <p:ph type="title"/>
          </p:nvPr>
        </p:nvSpPr>
        <p:spPr>
          <a:xfrm>
            <a:off x="812800" y="1310084"/>
            <a:ext cx="10883392" cy="571659"/>
          </a:xfrm>
          <a:prstGeom prst="rect">
            <a:avLst/>
          </a:prstGeom>
          <a:noFill/>
          <a:ln/>
        </p:spPr>
        <p:txBody>
          <a:bodyPr wrap="square" lIns="0" tIns="0" rIns="0" bIns="0" rtlCol="0" anchor="t">
            <a:normAutofit/>
          </a:bodyPr>
          <a:lstStyle/>
          <a:p>
            <a:pPr algn="l" indent="0" marL="0">
              <a:lnSpc>
                <a:spcPts val="4318"/>
              </a:lnSpc>
              <a:buNone/>
            </a:pPr>
            <a:r>
              <a:rPr lang="en-US" sz="3925" b="1" i="0" dirty="0">
                <a:solidFill>
                  <a:srgbClr val="15232B"/>
                </a:solidFill>
                <a:latin typeface="Arial" pitchFamily="34" charset="0"/>
                <a:ea typeface="Arial" pitchFamily="34" charset="-122"/>
                <a:cs typeface="Arial" pitchFamily="34" charset="-120"/>
              </a:rPr>
              <a:t>It maps the course and searches all of it</a:t>
            </a:r>
            <a:endParaRPr lang="en-US" sz="3925" dirty="0"/>
          </a:p>
        </p:txBody>
      </p:sp>
      <p:sp>
        <p:nvSpPr>
          <p:cNvPr id="4" name="Text 2"/>
          <p:cNvSpPr/>
          <p:nvPr/>
        </p:nvSpPr>
        <p:spPr>
          <a:xfrm>
            <a:off x="854154" y="2110343"/>
            <a:ext cx="6465364" cy="825500"/>
          </a:xfrm>
          <a:prstGeom prst="rect">
            <a:avLst/>
          </a:prstGeom>
          <a:noFill/>
          <a:ln/>
        </p:spPr>
        <p:txBody>
          <a:bodyPr wrap="square" lIns="0" tIns="0" rIns="0" bIns="0" rtlCol="0" anchor="t">
            <a:normAutofit/>
          </a:bodyPr>
          <a:lstStyle/>
          <a:p>
            <a:pPr algn="l" marL="212646" indent="-212646">
              <a:lnSpc>
                <a:spcPts val="2100"/>
              </a:lnSpc>
              <a:buSzPct val="100000"/>
              <a:buFontTx/>
              <a:buAutoNum type="arabicPeriod" startAt="1"/>
            </a:pPr>
            <a:r>
              <a:rPr lang="en-US" sz="1500" b="1" dirty="0">
                <a:solidFill>
                  <a:srgbClr val="15232B"/>
                </a:solidFill>
                <a:latin typeface="Rubik" pitchFamily="34" charset="0"/>
                <a:ea typeface="Rubik" pitchFamily="34" charset="-122"/>
                <a:cs typeface="Rubik" pitchFamily="34" charset="-120"/>
              </a:rPr>
              <a:t>Plan:</a:t>
            </a:r>
            <a:r>
              <a:rPr lang="en-US" sz="1500" dirty="0">
                <a:solidFill>
                  <a:srgbClr val="15232B"/>
                </a:solidFill>
                <a:latin typeface="Rubik" pitchFamily="34" charset="0"/>
                <a:ea typeface="Rubik" pitchFamily="34" charset="-122"/>
                <a:cs typeface="Rubik" pitchFamily="34" charset="-120"/>
              </a:rPr>
              <a:t> pick the nearest square not searched yet.</a:t>
            </a:r>
            <a:endParaRPr lang="en-US" sz="1500" dirty="0"/>
          </a:p>
          <a:p>
            <a:pPr algn="l" marL="212646" indent="-212646">
              <a:lnSpc>
                <a:spcPts val="2100"/>
              </a:lnSpc>
              <a:buSzPct val="100000"/>
              <a:buFontTx/>
              <a:buAutoNum type="arabicPeriod" startAt="1"/>
            </a:pPr>
            <a:r>
              <a:rPr lang="en-US" sz="1500" b="1" dirty="0">
                <a:solidFill>
                  <a:srgbClr val="15232B"/>
                </a:solidFill>
                <a:latin typeface="Rubik" pitchFamily="34" charset="0"/>
                <a:ea typeface="Rubik" pitchFamily="34" charset="-122"/>
                <a:cs typeface="Rubik" pitchFamily="34" charset="-120"/>
              </a:rPr>
              <a:t>Look:</a:t>
            </a:r>
            <a:r>
              <a:rPr lang="en-US" sz="1500" dirty="0">
                <a:solidFill>
                  <a:srgbClr val="15232B"/>
                </a:solidFill>
                <a:latin typeface="Rubik" pitchFamily="34" charset="0"/>
                <a:ea typeface="Rubik" pitchFamily="34" charset="-122"/>
                <a:cs typeface="Rubik" pitchFamily="34" charset="-120"/>
              </a:rPr>
              <a:t> measure ahead; one look maps a whole line.</a:t>
            </a:r>
            <a:endParaRPr lang="en-US" sz="1500" dirty="0"/>
          </a:p>
          <a:p>
            <a:pPr algn="l" marL="212646" indent="-212646">
              <a:lnSpc>
                <a:spcPts val="2100"/>
              </a:lnSpc>
              <a:buSzPct val="100000"/>
              <a:buFontTx/>
              <a:buAutoNum type="arabicPeriod" startAt="1"/>
            </a:pPr>
            <a:r>
              <a:rPr lang="en-US" sz="1500" b="1" dirty="0">
                <a:solidFill>
                  <a:srgbClr val="15232B"/>
                </a:solidFill>
                <a:latin typeface="Rubik" pitchFamily="34" charset="0"/>
                <a:ea typeface="Rubik" pitchFamily="34" charset="-122"/>
                <a:cs typeface="Rubik" pitchFamily="34" charset="-120"/>
              </a:rPr>
              <a:t>Move</a:t>
            </a:r>
            <a:r>
              <a:rPr lang="en-US" sz="1500" dirty="0">
                <a:solidFill>
                  <a:srgbClr val="15232B"/>
                </a:solidFill>
                <a:latin typeface="Rubik" pitchFamily="34" charset="0"/>
                <a:ea typeface="Rubik" pitchFamily="34" charset="-122"/>
                <a:cs typeface="Rubik" pitchFamily="34" charset="-120"/>
              </a:rPr>
              <a:t> one square, and repeat until done.</a:t>
            </a:r>
            <a:endParaRPr lang="en-US" sz="1500" dirty="0"/>
          </a:p>
        </p:txBody>
      </p:sp>
      <p:sp>
        <p:nvSpPr>
          <p:cNvPr id="5" name="Text 3"/>
          <p:cNvSpPr/>
          <p:nvPr/>
        </p:nvSpPr>
        <p:spPr>
          <a:xfrm>
            <a:off x="812800" y="3062843"/>
            <a:ext cx="6324600" cy="800100"/>
          </a:xfrm>
          <a:prstGeom prst="roundRect">
            <a:avLst>
              <a:gd name="adj" fmla="val 9524"/>
            </a:avLst>
          </a:prstGeom>
          <a:solidFill>
            <a:srgbClr val="15232B"/>
          </a:solidFill>
          <a:ln/>
        </p:spPr>
        <p:txBody>
          <a:bodyPr wrap="square" lIns="130082" tIns="130082" rIns="0" bIns="104682" rtlCol="0" anchor="t">
            <a:normAutofit/>
          </a:bodyPr>
          <a:lstStyle/>
          <a:p>
            <a:pPr algn="l" indent="0" marL="0">
              <a:lnSpc>
                <a:spcPts val="1950"/>
              </a:lnSpc>
              <a:buNone/>
            </a:pPr>
            <a:r>
              <a:rPr lang="en-US" sz="1300" dirty="0">
                <a:solidFill>
                  <a:srgbClr val="F5F2EA"/>
                </a:solidFill>
                <a:latin typeface="Courier New" pitchFamily="49" charset="0"/>
                <a:ea typeface="Courier New" pitchFamily="49" charset="-122"/>
                <a:cs typeface="Courier New" pitchFamily="49" charset="-120"/>
              </a:rPr>
              <a:t>await explore(find=color.GREEN,</a:t>
            </a:r>
            <a:endParaRPr lang="en-US" sz="1300" dirty="0"/>
          </a:p>
          <a:p>
            <a:pPr algn="l" indent="0" marL="0">
              <a:lnSpc>
                <a:spcPts val="1950"/>
              </a:lnSpc>
              <a:buNone/>
            </a:pPr>
            <a:r>
              <a:rPr lang="en-US" sz="1300" dirty="0">
                <a:solidFill>
                  <a:srgbClr val="F5F2EA"/>
                </a:solidFill>
                <a:latin typeface="Courier New" pitchFamily="49" charset="0"/>
                <a:ea typeface="Courier New" pitchFamily="49" charset="-122"/>
                <a:cs typeface="Courier New" pitchFamily="49" charset="-120"/>
              </a:rPr>
              <a:t>        near=(-30, 110))</a:t>
            </a:r>
            <a:endParaRPr lang="en-US" sz="1300" dirty="0"/>
          </a:p>
        </p:txBody>
      </p:sp>
      <p:sp>
        <p:nvSpPr>
          <p:cNvPr id="6" name="Shape 4"/>
          <p:cNvSpPr/>
          <p:nvPr/>
        </p:nvSpPr>
        <p:spPr>
          <a:xfrm>
            <a:off x="831850" y="4015343"/>
            <a:ext cx="0" cy="600710"/>
          </a:xfrm>
          <a:prstGeom prst="line">
            <a:avLst/>
          </a:prstGeom>
          <a:noFill/>
          <a:ln w="38100">
            <a:solidFill>
              <a:srgbClr val="2E8B4C"/>
            </a:solidFill>
            <a:prstDash val="solid"/>
          </a:ln>
        </p:spPr>
      </p:sp>
      <p:sp>
        <p:nvSpPr>
          <p:cNvPr id="7" name="Text 5"/>
          <p:cNvSpPr/>
          <p:nvPr/>
        </p:nvSpPr>
        <p:spPr>
          <a:xfrm>
            <a:off x="1000760" y="4040743"/>
            <a:ext cx="632073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6B3A"/>
                </a:solidFill>
                <a:latin typeface="Rubik" pitchFamily="34" charset="0"/>
                <a:ea typeface="Rubik" pitchFamily="34" charset="-122"/>
                <a:cs typeface="Rubik" pitchFamily="34" charset="-120"/>
              </a:rPr>
              <a:t>Good for</a:t>
            </a:r>
            <a:endParaRPr lang="en-US" sz="1700" dirty="0"/>
          </a:p>
        </p:txBody>
      </p:sp>
      <p:sp>
        <p:nvSpPr>
          <p:cNvPr id="8" name="Text 6"/>
          <p:cNvSpPr/>
          <p:nvPr/>
        </p:nvSpPr>
        <p:spPr>
          <a:xfrm>
            <a:off x="1000760" y="4350624"/>
            <a:ext cx="632073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Patches anywhere it can reach. Colours in a set order.</a:t>
            </a:r>
            <a:endParaRPr lang="en-US" sz="1400" dirty="0"/>
          </a:p>
        </p:txBody>
      </p:sp>
      <p:sp>
        <p:nvSpPr>
          <p:cNvPr id="9" name="Shape 7"/>
          <p:cNvSpPr/>
          <p:nvPr/>
        </p:nvSpPr>
        <p:spPr>
          <a:xfrm>
            <a:off x="831850" y="4768453"/>
            <a:ext cx="0" cy="600710"/>
          </a:xfrm>
          <a:prstGeom prst="line">
            <a:avLst/>
          </a:prstGeom>
          <a:noFill/>
          <a:ln w="38100">
            <a:solidFill>
              <a:srgbClr val="B4531A"/>
            </a:solidFill>
            <a:prstDash val="solid"/>
          </a:ln>
        </p:spPr>
      </p:sp>
      <p:sp>
        <p:nvSpPr>
          <p:cNvPr id="10" name="Text 8"/>
          <p:cNvSpPr/>
          <p:nvPr/>
        </p:nvSpPr>
        <p:spPr>
          <a:xfrm>
            <a:off x="1000760" y="4793853"/>
            <a:ext cx="632073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31A"/>
                </a:solidFill>
                <a:latin typeface="Rubik" pitchFamily="34" charset="0"/>
                <a:ea typeface="Rubik" pitchFamily="34" charset="-122"/>
                <a:cs typeface="Rubik" pitchFamily="34" charset="-120"/>
              </a:rPr>
              <a:t>Watch out</a:t>
            </a:r>
            <a:endParaRPr lang="en-US" sz="1700" dirty="0"/>
          </a:p>
        </p:txBody>
      </p:sp>
      <p:sp>
        <p:nvSpPr>
          <p:cNvPr id="11" name="Text 9"/>
          <p:cNvSpPr/>
          <p:nvPr/>
        </p:nvSpPr>
        <p:spPr>
          <a:xfrm>
            <a:off x="1000760" y="5103735"/>
            <a:ext cx="632073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Could be slower. Hints help.</a:t>
            </a:r>
            <a:endParaRPr lang="en-US" sz="1400" dirty="0"/>
          </a:p>
        </p:txBody>
      </p:sp>
      <p:pic>
        <p:nvPicPr>
          <p:cNvPr id="12" name="Image 0" descr="The same course. Small squares cover all the floor the rover could reach, including both patches.">    </p:cNvPr>
          <p:cNvPicPr>
            <a:picLocks noChangeAspect="1"/>
          </p:cNvPicPr>
          <p:nvPr/>
        </p:nvPicPr>
        <p:blipFill>
          <a:blip r:embed="rId1"/>
          <a:srcRect l="0" r="0" t="0" b="0"/>
          <a:stretch/>
        </p:blipFill>
        <p:spPr>
          <a:xfrm>
            <a:off x="7493000" y="2110343"/>
            <a:ext cx="3886200" cy="3022600"/>
          </a:xfrm>
          <a:prstGeom prst="rect">
            <a:avLst/>
          </a:prstGeom>
        </p:spPr>
      </p:pic>
      <p:sp>
        <p:nvSpPr>
          <p:cNvPr id="13" name="Text 10"/>
          <p:cNvSpPr/>
          <p:nvPr/>
        </p:nvSpPr>
        <p:spPr>
          <a:xfrm>
            <a:off x="7493000" y="5234543"/>
            <a:ext cx="400278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Rubik" pitchFamily="34" charset="0"/>
                <a:ea typeface="Rubik" pitchFamily="34" charset="-122"/>
                <a:cs typeface="Rubik" pitchFamily="34" charset="-120"/>
              </a:rPr>
              <a:t>Orange squares: floor it has searched. It reaches both patches, but it visits every square to get there.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7D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Same course, three ways round</a:t>
            </a:r>
            <a:endParaRPr lang="en-US" sz="4000" dirty="0"/>
          </a:p>
        </p:txBody>
      </p:sp>
      <p:pic>
        <p:nvPicPr>
          <p:cNvPr id="3" name="Image 0" descr="Basic functions: one planned line from the start, over the red patch, round the wall to the green patch.">    </p:cNvPr>
          <p:cNvPicPr>
            <a:picLocks noChangeAspect="1"/>
          </p:cNvPicPr>
          <p:nvPr/>
        </p:nvPicPr>
        <p:blipFill>
          <a:blip r:embed="rId1"/>
          <a:srcRect l="0" r="0" t="0" b="0"/>
          <a:stretch/>
        </p:blipFill>
        <p:spPr>
          <a:xfrm>
            <a:off x="812800" y="1651000"/>
            <a:ext cx="3048000" cy="2286000"/>
          </a:xfrm>
          <a:prstGeom prst="rect">
            <a:avLst/>
          </a:prstGeom>
        </p:spPr>
      </p:pic>
      <p:sp>
        <p:nvSpPr>
          <p:cNvPr id="4" name="Text 1"/>
          <p:cNvSpPr/>
          <p:nvPr/>
        </p:nvSpPr>
        <p:spPr>
          <a:xfrm>
            <a:off x="812800" y="4038600"/>
            <a:ext cx="3488212"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5232B"/>
                </a:solidFill>
                <a:latin typeface="Rubik" pitchFamily="34" charset="0"/>
                <a:ea typeface="Rubik" pitchFamily="34" charset="-122"/>
                <a:cs typeface="Rubik" pitchFamily="34" charset="-120"/>
              </a:rPr>
              <a:t>Basic functions</a:t>
            </a:r>
            <a:endParaRPr lang="en-US" sz="1900" dirty="0"/>
          </a:p>
        </p:txBody>
      </p:sp>
      <p:sp>
        <p:nvSpPr>
          <p:cNvPr id="5" name="Text 2"/>
          <p:cNvSpPr/>
          <p:nvPr/>
        </p:nvSpPr>
        <p:spPr>
          <a:xfrm>
            <a:off x="812800" y="4429761"/>
            <a:ext cx="348821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Exactly the route you planned. Finds both, if you know where they are.</a:t>
            </a:r>
            <a:endParaRPr lang="en-US" sz="1400" dirty="0"/>
          </a:p>
        </p:txBody>
      </p:sp>
      <p:pic>
        <p:nvPicPr>
          <p:cNvPr id="6" name="Image 1" descr="Wall follower: the path runs along the walls, past the green patch, and never reaches the red one.">    </p:cNvPr>
          <p:cNvPicPr>
            <a:picLocks noChangeAspect="1"/>
          </p:cNvPicPr>
          <p:nvPr/>
        </p:nvPicPr>
        <p:blipFill>
          <a:blip r:embed="rId2"/>
          <a:srcRect l="0" r="0" t="0" b="0"/>
          <a:stretch/>
        </p:blipFill>
        <p:spPr>
          <a:xfrm>
            <a:off x="4402614" y="1651000"/>
            <a:ext cx="3048000" cy="2286000"/>
          </a:xfrm>
          <a:prstGeom prst="rect">
            <a:avLst/>
          </a:prstGeom>
        </p:spPr>
      </p:pic>
      <p:sp>
        <p:nvSpPr>
          <p:cNvPr id="7" name="Text 3"/>
          <p:cNvSpPr/>
          <p:nvPr/>
        </p:nvSpPr>
        <p:spPr>
          <a:xfrm>
            <a:off x="4402614" y="4038600"/>
            <a:ext cx="3488294"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F6FB3"/>
                </a:solidFill>
                <a:latin typeface="Rubik" pitchFamily="34" charset="0"/>
                <a:ea typeface="Rubik" pitchFamily="34" charset="-122"/>
                <a:cs typeface="Rubik" pitchFamily="34" charset="-120"/>
              </a:rPr>
              <a:t>Wall follower</a:t>
            </a:r>
            <a:endParaRPr lang="en-US" sz="1900" dirty="0"/>
          </a:p>
        </p:txBody>
      </p:sp>
      <p:sp>
        <p:nvSpPr>
          <p:cNvPr id="8" name="Text 4"/>
          <p:cNvSpPr/>
          <p:nvPr/>
        </p:nvSpPr>
        <p:spPr>
          <a:xfrm>
            <a:off x="4402614" y="4429761"/>
            <a:ext cx="348829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Follows the walls. Finds green by the wall; misses red in the open.</a:t>
            </a:r>
            <a:endParaRPr lang="en-US" sz="1400" dirty="0"/>
          </a:p>
        </p:txBody>
      </p:sp>
      <p:pic>
        <p:nvPicPr>
          <p:cNvPr id="9" name="Image 2" descr="Maze explorer: small squares cover all the reachable floor, including both patches.">    </p:cNvPr>
          <p:cNvPicPr>
            <a:picLocks noChangeAspect="1"/>
          </p:cNvPicPr>
          <p:nvPr/>
        </p:nvPicPr>
        <p:blipFill>
          <a:blip r:embed="rId3"/>
          <a:srcRect l="0" r="0" t="0" b="0"/>
          <a:stretch/>
        </p:blipFill>
        <p:spPr>
          <a:xfrm>
            <a:off x="7992507" y="1651000"/>
            <a:ext cx="3048000" cy="2286000"/>
          </a:xfrm>
          <a:prstGeom prst="rect">
            <a:avLst/>
          </a:prstGeom>
        </p:spPr>
      </p:pic>
      <p:sp>
        <p:nvSpPr>
          <p:cNvPr id="10" name="Text 5"/>
          <p:cNvSpPr/>
          <p:nvPr/>
        </p:nvSpPr>
        <p:spPr>
          <a:xfrm>
            <a:off x="7992507" y="4038600"/>
            <a:ext cx="3488294"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B4531A"/>
                </a:solidFill>
                <a:latin typeface="Rubik" pitchFamily="34" charset="0"/>
                <a:ea typeface="Rubik" pitchFamily="34" charset="-122"/>
                <a:cs typeface="Rubik" pitchFamily="34" charset="-120"/>
              </a:rPr>
              <a:t>Maze explorer</a:t>
            </a:r>
            <a:endParaRPr lang="en-US" sz="1900" dirty="0"/>
          </a:p>
        </p:txBody>
      </p:sp>
      <p:sp>
        <p:nvSpPr>
          <p:cNvPr id="11" name="Text 6"/>
          <p:cNvSpPr/>
          <p:nvPr/>
        </p:nvSpPr>
        <p:spPr>
          <a:xfrm>
            <a:off x="7992507" y="4429761"/>
            <a:ext cx="348829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Searches every square it can reach. Finds both, but may take the longest.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Which one suits your team?</a:t>
            </a:r>
            <a:endParaRPr lang="en-US" sz="4000" dirty="0"/>
          </a:p>
        </p:txBody>
      </p:sp>
      <p:sp>
        <p:nvSpPr>
          <p:cNvPr id="3" name="Shape 1"/>
          <p:cNvSpPr/>
          <p:nvPr/>
        </p:nvSpPr>
        <p:spPr>
          <a:xfrm>
            <a:off x="815975" y="1654175"/>
            <a:ext cx="10560050" cy="923290"/>
          </a:xfrm>
          <a:prstGeom prst="roundRect">
            <a:avLst>
              <a:gd name="adj" fmla="val 10660"/>
            </a:avLst>
          </a:prstGeom>
          <a:solidFill>
            <a:srgbClr val="FCFBF7"/>
          </a:solidFill>
          <a:ln w="6350">
            <a:solidFill>
              <a:srgbClr val="DCD6C8"/>
            </a:solidFill>
            <a:prstDash val="solid"/>
          </a:ln>
        </p:spPr>
      </p:sp>
      <p:sp>
        <p:nvSpPr>
          <p:cNvPr id="4" name="Text 2"/>
          <p:cNvSpPr/>
          <p:nvPr/>
        </p:nvSpPr>
        <p:spPr>
          <a:xfrm>
            <a:off x="1071880" y="1970088"/>
            <a:ext cx="7602677" cy="31686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5232B"/>
                </a:solidFill>
                <a:latin typeface="Rubik" pitchFamily="34" charset="0"/>
                <a:ea typeface="Rubik" pitchFamily="34" charset="-122"/>
                <a:cs typeface="Rubik" pitchFamily="34" charset="-120"/>
              </a:rPr>
              <a:t>“We know exactly where every patch is, and we want the fastest run.”</a:t>
            </a:r>
            <a:endParaRPr lang="en-US" sz="1700" dirty="0"/>
          </a:p>
        </p:txBody>
      </p:sp>
      <p:sp>
        <p:nvSpPr>
          <p:cNvPr id="5" name="Text 3"/>
          <p:cNvSpPr/>
          <p:nvPr/>
        </p:nvSpPr>
        <p:spPr>
          <a:xfrm>
            <a:off x="8707120" y="1859282"/>
            <a:ext cx="2413000" cy="513080"/>
          </a:xfrm>
          <a:prstGeom prst="roundRect">
            <a:avLst>
              <a:gd name="adj" fmla="val 49505"/>
            </a:avLst>
          </a:prstGeom>
          <a:solidFill>
            <a:srgbClr val="5B6B75"/>
          </a:solidFill>
          <a:ln/>
        </p:spPr>
        <p:txBody>
          <a:bodyPr wrap="square" lIns="46383" tIns="39906" rIns="46383" bIns="14506" rtlCol="0" anchor="t">
            <a:normAutofit/>
          </a:bodyPr>
          <a:lstStyle/>
          <a:p>
            <a:pPr algn="ctr" indent="0" marL="0">
              <a:lnSpc>
                <a:spcPts val="2240"/>
              </a:lnSpc>
              <a:buNone/>
            </a:pPr>
            <a:r>
              <a:rPr lang="en-US" sz="1600" b="1" dirty="0">
                <a:solidFill>
                  <a:srgbClr val="F5F2EA"/>
                </a:solidFill>
                <a:latin typeface="Rubik" pitchFamily="34" charset="0"/>
                <a:ea typeface="Rubik" pitchFamily="34" charset="-122"/>
                <a:cs typeface="Rubik" pitchFamily="34" charset="-120"/>
              </a:rPr>
              <a:t>Basic functions</a:t>
            </a:r>
            <a:endParaRPr lang="en-US" sz="1600" dirty="0"/>
          </a:p>
        </p:txBody>
      </p:sp>
      <p:sp>
        <p:nvSpPr>
          <p:cNvPr id="6" name="Shape 4"/>
          <p:cNvSpPr/>
          <p:nvPr/>
        </p:nvSpPr>
        <p:spPr>
          <a:xfrm>
            <a:off x="815975" y="2736214"/>
            <a:ext cx="10560050" cy="993140"/>
          </a:xfrm>
          <a:prstGeom prst="roundRect">
            <a:avLst>
              <a:gd name="adj" fmla="val 9910"/>
            </a:avLst>
          </a:prstGeom>
          <a:solidFill>
            <a:srgbClr val="FCFBF7"/>
          </a:solidFill>
          <a:ln w="6350">
            <a:solidFill>
              <a:srgbClr val="DCD6C8"/>
            </a:solidFill>
            <a:prstDash val="solid"/>
          </a:ln>
        </p:spPr>
      </p:sp>
      <p:sp>
        <p:nvSpPr>
          <p:cNvPr id="7" name="Text 5"/>
          <p:cNvSpPr/>
          <p:nvPr/>
        </p:nvSpPr>
        <p:spPr>
          <a:xfrm>
            <a:off x="1071880" y="2941321"/>
            <a:ext cx="7602677"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5232B"/>
                </a:solidFill>
                <a:latin typeface="Rubik" pitchFamily="34" charset="0"/>
                <a:ea typeface="Rubik" pitchFamily="34" charset="-122"/>
                <a:cs typeface="Rubik" pitchFamily="34" charset="-120"/>
              </a:rPr>
              <a:t>“The patches are along the walls, and we want autonomy points with little risk.”</a:t>
            </a:r>
            <a:endParaRPr lang="en-US" sz="1700" dirty="0"/>
          </a:p>
        </p:txBody>
      </p:sp>
      <p:sp>
        <p:nvSpPr>
          <p:cNvPr id="8" name="Text 6"/>
          <p:cNvSpPr/>
          <p:nvPr/>
        </p:nvSpPr>
        <p:spPr>
          <a:xfrm>
            <a:off x="8707120" y="2976246"/>
            <a:ext cx="2413000" cy="513080"/>
          </a:xfrm>
          <a:prstGeom prst="roundRect">
            <a:avLst>
              <a:gd name="adj" fmla="val 49505"/>
            </a:avLst>
          </a:prstGeom>
          <a:solidFill>
            <a:srgbClr val="2F6FB3"/>
          </a:solidFill>
          <a:ln/>
        </p:spPr>
        <p:txBody>
          <a:bodyPr wrap="square" lIns="46383" tIns="39906" rIns="46383" bIns="14506" rtlCol="0" anchor="t">
            <a:normAutofit/>
          </a:bodyPr>
          <a:lstStyle/>
          <a:p>
            <a:pPr algn="ctr" indent="0" marL="0">
              <a:lnSpc>
                <a:spcPts val="2240"/>
              </a:lnSpc>
              <a:buNone/>
            </a:pPr>
            <a:r>
              <a:rPr lang="en-US" sz="1600" b="1" dirty="0">
                <a:solidFill>
                  <a:srgbClr val="F5F2EA"/>
                </a:solidFill>
                <a:latin typeface="Rubik" pitchFamily="34" charset="0"/>
                <a:ea typeface="Rubik" pitchFamily="34" charset="-122"/>
                <a:cs typeface="Rubik" pitchFamily="34" charset="-120"/>
              </a:rPr>
              <a:t>Wall follower</a:t>
            </a:r>
            <a:endParaRPr lang="en-US" sz="1600" dirty="0"/>
          </a:p>
        </p:txBody>
      </p:sp>
      <p:sp>
        <p:nvSpPr>
          <p:cNvPr id="9" name="Shape 7"/>
          <p:cNvSpPr/>
          <p:nvPr/>
        </p:nvSpPr>
        <p:spPr>
          <a:xfrm>
            <a:off x="815975" y="3888107"/>
            <a:ext cx="10560050" cy="923290"/>
          </a:xfrm>
          <a:prstGeom prst="roundRect">
            <a:avLst>
              <a:gd name="adj" fmla="val 10660"/>
            </a:avLst>
          </a:prstGeom>
          <a:solidFill>
            <a:srgbClr val="FCFBF7"/>
          </a:solidFill>
          <a:ln w="6350">
            <a:solidFill>
              <a:srgbClr val="DCD6C8"/>
            </a:solidFill>
            <a:prstDash val="solid"/>
          </a:ln>
        </p:spPr>
      </p:sp>
      <p:sp>
        <p:nvSpPr>
          <p:cNvPr id="10" name="Text 8"/>
          <p:cNvSpPr/>
          <p:nvPr/>
        </p:nvSpPr>
        <p:spPr>
          <a:xfrm>
            <a:off x="1071880" y="4204016"/>
            <a:ext cx="7602677" cy="31686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5232B"/>
                </a:solidFill>
                <a:latin typeface="Rubik" pitchFamily="34" charset="0"/>
                <a:ea typeface="Rubik" pitchFamily="34" charset="-122"/>
                <a:cs typeface="Rubik" pitchFamily="34" charset="-120"/>
              </a:rPr>
              <a:t>“The patches could be anywhere, or must be found in a set order.”</a:t>
            </a:r>
            <a:endParaRPr lang="en-US" sz="1700" dirty="0"/>
          </a:p>
        </p:txBody>
      </p:sp>
      <p:sp>
        <p:nvSpPr>
          <p:cNvPr id="11" name="Text 9"/>
          <p:cNvSpPr/>
          <p:nvPr/>
        </p:nvSpPr>
        <p:spPr>
          <a:xfrm>
            <a:off x="8707120" y="4093214"/>
            <a:ext cx="2413000" cy="513080"/>
          </a:xfrm>
          <a:prstGeom prst="roundRect">
            <a:avLst>
              <a:gd name="adj" fmla="val 49505"/>
            </a:avLst>
          </a:prstGeom>
          <a:solidFill>
            <a:srgbClr val="E8772E"/>
          </a:solidFill>
          <a:ln/>
        </p:spPr>
        <p:txBody>
          <a:bodyPr wrap="square" lIns="46383" tIns="39906" rIns="46383" bIns="14506" rtlCol="0" anchor="t">
            <a:normAutofit/>
          </a:bodyPr>
          <a:lstStyle/>
          <a:p>
            <a:pPr algn="ctr" indent="0" marL="0">
              <a:lnSpc>
                <a:spcPts val="2240"/>
              </a:lnSpc>
              <a:buNone/>
            </a:pPr>
            <a:r>
              <a:rPr lang="en-US" sz="1600" b="1" dirty="0">
                <a:solidFill>
                  <a:srgbClr val="15232B"/>
                </a:solidFill>
                <a:latin typeface="Rubik" pitchFamily="34" charset="0"/>
                <a:ea typeface="Rubik" pitchFamily="34" charset="-122"/>
                <a:cs typeface="Rubik" pitchFamily="34" charset="-120"/>
              </a:rPr>
              <a:t>Maze explorer</a:t>
            </a:r>
            <a:endParaRPr lang="en-US" sz="1600" dirty="0"/>
          </a:p>
        </p:txBody>
      </p:sp>
      <p:sp>
        <p:nvSpPr>
          <p:cNvPr id="12" name="Text 10"/>
          <p:cNvSpPr/>
          <p:nvPr/>
        </p:nvSpPr>
        <p:spPr>
          <a:xfrm>
            <a:off x="812800" y="509397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0"/>
                </a:solidFill>
                <a:latin typeface="Rubik" pitchFamily="34" charset="0"/>
                <a:ea typeface="Rubik" pitchFamily="34" charset="-122"/>
                <a:cs typeface="Rubik" pitchFamily="34" charset="-120"/>
              </a:rPr>
              <a:t>With every package you can still write your own moves, before, after or around the autonomy. And remember: it comes out of your budget.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3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A56A"/>
                </a:solidFill>
                <a:latin typeface="Rubik" pitchFamily="34" charset="0"/>
                <a:ea typeface="Rubik" pitchFamily="34" charset="-122"/>
                <a:cs typeface="Rubik" pitchFamily="34" charset="-120"/>
              </a:rPr>
              <a:t>WHICHEVER YOU CHOOSE</a:t>
            </a:r>
            <a:endParaRPr lang="en-US" sz="1400" dirty="0"/>
          </a:p>
        </p:txBody>
      </p:sp>
      <p:sp>
        <p:nvSpPr>
          <p:cNvPr id="3" name="Text 1"/>
          <p:cNvSpPr/>
          <p:nvPr>
            <p:ph type="title"/>
          </p:nvPr>
        </p:nvSpPr>
        <p:spPr>
          <a:xfrm>
            <a:off x="812800" y="1366521"/>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5F2EA"/>
                </a:solidFill>
                <a:latin typeface="Arial" pitchFamily="34" charset="0"/>
                <a:ea typeface="Arial" pitchFamily="34" charset="-122"/>
                <a:cs typeface="Arial" pitchFamily="34" charset="-120"/>
              </a:rPr>
              <a:t>Every package comes with</a:t>
            </a:r>
            <a:endParaRPr lang="en-US" sz="4000" dirty="0"/>
          </a:p>
        </p:txBody>
      </p:sp>
      <p:sp>
        <p:nvSpPr>
          <p:cNvPr id="4" name="Shape 2"/>
          <p:cNvSpPr/>
          <p:nvPr/>
        </p:nvSpPr>
        <p:spPr>
          <a:xfrm>
            <a:off x="812800" y="2230121"/>
            <a:ext cx="5194300" cy="1290320"/>
          </a:xfrm>
          <a:prstGeom prst="roundRect">
            <a:avLst>
              <a:gd name="adj" fmla="val 7874"/>
            </a:avLst>
          </a:prstGeom>
          <a:solidFill>
            <a:srgbClr val="1F323C"/>
          </a:solidFill>
          <a:ln/>
        </p:spPr>
      </p:sp>
      <p:pic>
        <p:nvPicPr>
          <p:cNvPr id="5" name="Image 0" descr="CheckCircle">    </p:cNvPr>
          <p:cNvPicPr>
            <a:picLocks noChangeAspect="1"/>
          </p:cNvPicPr>
          <p:nvPr/>
        </p:nvPicPr>
        <p:blipFill>
          <a:blip r:embed="rId1"/>
          <a:srcRect l="0" r="0" t="0" b="0"/>
          <a:stretch/>
        </p:blipFill>
        <p:spPr>
          <a:xfrm>
            <a:off x="1041400" y="2458721"/>
            <a:ext cx="406400" cy="406400"/>
          </a:xfrm>
          <a:prstGeom prst="rect">
            <a:avLst/>
          </a:prstGeom>
        </p:spPr>
      </p:pic>
      <p:sp>
        <p:nvSpPr>
          <p:cNvPr id="6" name="Text 3"/>
          <p:cNvSpPr/>
          <p:nvPr/>
        </p:nvSpPr>
        <p:spPr>
          <a:xfrm>
            <a:off x="1625600" y="2458721"/>
            <a:ext cx="4277487"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5F2EA"/>
                </a:solidFill>
                <a:latin typeface="Rubik" pitchFamily="34" charset="0"/>
                <a:ea typeface="Rubik" pitchFamily="34" charset="-122"/>
                <a:cs typeface="Rubik" pitchFamily="34" charset="-120"/>
              </a:rPr>
              <a:t>setup_check: 8 tests</a:t>
            </a:r>
            <a:endParaRPr lang="en-US" sz="1900" dirty="0"/>
          </a:p>
        </p:txBody>
      </p:sp>
      <p:sp>
        <p:nvSpPr>
          <p:cNvPr id="7" name="Text 4"/>
          <p:cNvSpPr/>
          <p:nvPr/>
        </p:nvSpPr>
        <p:spPr>
          <a:xfrm>
            <a:off x="1625600" y="2811779"/>
            <a:ext cx="427748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0D6"/>
                </a:solidFill>
                <a:latin typeface="Rubik" pitchFamily="34" charset="0"/>
                <a:ea typeface="Rubik" pitchFamily="34" charset="-122"/>
                <a:cs typeface="Rubik" pitchFamily="34" charset="-120"/>
              </a:rPr>
              <a:t>Finds wrong settings before they waste your time, and tells you the fix.</a:t>
            </a:r>
            <a:endParaRPr lang="en-US" sz="1400" dirty="0"/>
          </a:p>
        </p:txBody>
      </p:sp>
      <p:sp>
        <p:nvSpPr>
          <p:cNvPr id="8" name="Shape 5"/>
          <p:cNvSpPr/>
          <p:nvPr/>
        </p:nvSpPr>
        <p:spPr>
          <a:xfrm>
            <a:off x="6184900" y="2230121"/>
            <a:ext cx="5194300" cy="1290320"/>
          </a:xfrm>
          <a:prstGeom prst="roundRect">
            <a:avLst>
              <a:gd name="adj" fmla="val 7874"/>
            </a:avLst>
          </a:prstGeom>
          <a:solidFill>
            <a:srgbClr val="1F323C"/>
          </a:solidFill>
          <a:ln/>
        </p:spPr>
      </p:sp>
      <p:pic>
        <p:nvPicPr>
          <p:cNvPr id="9" name="Image 1" descr="Code">    </p:cNvPr>
          <p:cNvPicPr>
            <a:picLocks noChangeAspect="1"/>
          </p:cNvPicPr>
          <p:nvPr/>
        </p:nvPicPr>
        <p:blipFill>
          <a:blip r:embed="rId2"/>
          <a:srcRect l="0" r="0" t="0" b="0"/>
          <a:stretch/>
        </p:blipFill>
        <p:spPr>
          <a:xfrm>
            <a:off x="6413500" y="2458721"/>
            <a:ext cx="406400" cy="406400"/>
          </a:xfrm>
          <a:prstGeom prst="rect">
            <a:avLst/>
          </a:prstGeom>
        </p:spPr>
      </p:pic>
      <p:sp>
        <p:nvSpPr>
          <p:cNvPr id="10" name="Text 6"/>
          <p:cNvSpPr/>
          <p:nvPr/>
        </p:nvSpPr>
        <p:spPr>
          <a:xfrm>
            <a:off x="6997700" y="2458721"/>
            <a:ext cx="4277487"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5F2EA"/>
                </a:solidFill>
                <a:latin typeface="Rubik" pitchFamily="34" charset="0"/>
                <a:ea typeface="Rubik" pitchFamily="34" charset="-122"/>
                <a:cs typeface="Rubik" pitchFamily="34" charset="-120"/>
              </a:rPr>
              <a:t>The simulator, free</a:t>
            </a:r>
            <a:endParaRPr lang="en-US" sz="1900" dirty="0"/>
          </a:p>
        </p:txBody>
      </p:sp>
      <p:sp>
        <p:nvSpPr>
          <p:cNvPr id="11" name="Text 7"/>
          <p:cNvSpPr/>
          <p:nvPr/>
        </p:nvSpPr>
        <p:spPr>
          <a:xfrm>
            <a:off x="6997700" y="2811779"/>
            <a:ext cx="427748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0D6"/>
                </a:solidFill>
                <a:latin typeface="Rubik" pitchFamily="34" charset="0"/>
                <a:ea typeface="Rubik" pitchFamily="34" charset="-122"/>
                <a:cs typeface="Rubik" pitchFamily="34" charset="-120"/>
              </a:rPr>
              <a:t>Test your program on a computer before you test it on the floor.</a:t>
            </a:r>
            <a:endParaRPr lang="en-US" sz="1400" dirty="0"/>
          </a:p>
        </p:txBody>
      </p:sp>
      <p:sp>
        <p:nvSpPr>
          <p:cNvPr id="12" name="Shape 8"/>
          <p:cNvSpPr/>
          <p:nvPr/>
        </p:nvSpPr>
        <p:spPr>
          <a:xfrm>
            <a:off x="812800" y="3698242"/>
            <a:ext cx="5194300" cy="1290320"/>
          </a:xfrm>
          <a:prstGeom prst="roundRect">
            <a:avLst>
              <a:gd name="adj" fmla="val 7874"/>
            </a:avLst>
          </a:prstGeom>
          <a:solidFill>
            <a:srgbClr val="1F323C"/>
          </a:solidFill>
          <a:ln/>
        </p:spPr>
      </p:sp>
      <p:pic>
        <p:nvPicPr>
          <p:cNvPr id="13" name="Image 2" descr="Book">    </p:cNvPr>
          <p:cNvPicPr>
            <a:picLocks noChangeAspect="1"/>
          </p:cNvPicPr>
          <p:nvPr/>
        </p:nvPicPr>
        <p:blipFill>
          <a:blip r:embed="rId3"/>
          <a:srcRect l="0" r="0" t="0" b="0"/>
          <a:stretch/>
        </p:blipFill>
        <p:spPr>
          <a:xfrm>
            <a:off x="1041400" y="3926842"/>
            <a:ext cx="406400" cy="406400"/>
          </a:xfrm>
          <a:prstGeom prst="rect">
            <a:avLst/>
          </a:prstGeom>
        </p:spPr>
      </p:pic>
      <p:sp>
        <p:nvSpPr>
          <p:cNvPr id="14" name="Text 9"/>
          <p:cNvSpPr/>
          <p:nvPr/>
        </p:nvSpPr>
        <p:spPr>
          <a:xfrm>
            <a:off x="1625600" y="3926842"/>
            <a:ext cx="4277487"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5F2EA"/>
                </a:solidFill>
                <a:latin typeface="Rubik" pitchFamily="34" charset="0"/>
                <a:ea typeface="Rubik" pitchFamily="34" charset="-122"/>
                <a:cs typeface="Rubik" pitchFamily="34" charset="-120"/>
              </a:rPr>
              <a:t>A user manual</a:t>
            </a:r>
            <a:endParaRPr lang="en-US" sz="1900" dirty="0"/>
          </a:p>
        </p:txBody>
      </p:sp>
      <p:sp>
        <p:nvSpPr>
          <p:cNvPr id="15" name="Text 10"/>
          <p:cNvSpPr/>
          <p:nvPr/>
        </p:nvSpPr>
        <p:spPr>
          <a:xfrm>
            <a:off x="1625600" y="4279900"/>
            <a:ext cx="427748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0D6"/>
                </a:solidFill>
                <a:latin typeface="Rubik" pitchFamily="34" charset="0"/>
                <a:ea typeface="Rubik" pitchFamily="34" charset="-122"/>
                <a:cs typeface="Rubik" pitchFamily="34" charset="-120"/>
              </a:rPr>
              <a:t>A first-hour checklist, and every setting and function explained.</a:t>
            </a:r>
            <a:endParaRPr lang="en-US" sz="1400" dirty="0"/>
          </a:p>
        </p:txBody>
      </p:sp>
      <p:sp>
        <p:nvSpPr>
          <p:cNvPr id="16" name="Shape 11"/>
          <p:cNvSpPr/>
          <p:nvPr/>
        </p:nvSpPr>
        <p:spPr>
          <a:xfrm>
            <a:off x="6184900" y="3698242"/>
            <a:ext cx="5194300" cy="1290320"/>
          </a:xfrm>
          <a:prstGeom prst="roundRect">
            <a:avLst>
              <a:gd name="adj" fmla="val 7874"/>
            </a:avLst>
          </a:prstGeom>
          <a:solidFill>
            <a:srgbClr val="1F323C"/>
          </a:solidFill>
          <a:ln/>
        </p:spPr>
      </p:sp>
      <p:pic>
        <p:nvPicPr>
          <p:cNvPr id="17" name="Image 3" descr="Wrench">    </p:cNvPr>
          <p:cNvPicPr>
            <a:picLocks noChangeAspect="1"/>
          </p:cNvPicPr>
          <p:nvPr/>
        </p:nvPicPr>
        <p:blipFill>
          <a:blip r:embed="rId4"/>
          <a:srcRect l="0" r="0" t="0" b="0"/>
          <a:stretch/>
        </p:blipFill>
        <p:spPr>
          <a:xfrm>
            <a:off x="6413500" y="3926842"/>
            <a:ext cx="406400" cy="406400"/>
          </a:xfrm>
          <a:prstGeom prst="rect">
            <a:avLst/>
          </a:prstGeom>
        </p:spPr>
      </p:pic>
      <p:sp>
        <p:nvSpPr>
          <p:cNvPr id="18" name="Text 12"/>
          <p:cNvSpPr/>
          <p:nvPr/>
        </p:nvSpPr>
        <p:spPr>
          <a:xfrm>
            <a:off x="6997700" y="3926842"/>
            <a:ext cx="4277487"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5F2EA"/>
                </a:solidFill>
                <a:latin typeface="Rubik" pitchFamily="34" charset="0"/>
                <a:ea typeface="Rubik" pitchFamily="34" charset="-122"/>
                <a:cs typeface="Rubik" pitchFamily="34" charset="-120"/>
              </a:rPr>
              <a:t>Room for your own code</a:t>
            </a:r>
            <a:endParaRPr lang="en-US" sz="1900" dirty="0"/>
          </a:p>
        </p:txBody>
      </p:sp>
      <p:sp>
        <p:nvSpPr>
          <p:cNvPr id="19" name="Text 13"/>
          <p:cNvSpPr/>
          <p:nvPr/>
        </p:nvSpPr>
        <p:spPr>
          <a:xfrm>
            <a:off x="6997700" y="4279900"/>
            <a:ext cx="427748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D0D6"/>
                </a:solidFill>
                <a:latin typeface="Rubik" pitchFamily="34" charset="0"/>
                <a:ea typeface="Rubik" pitchFamily="34" charset="-122"/>
                <a:cs typeface="Rubik" pitchFamily="34" charset="-120"/>
              </a:rPr>
              <a:t>Your own program, and your own actions for each colour.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The simulator: test on a computer first</a:t>
            </a:r>
            <a:endParaRPr lang="en-US" sz="4000" dirty="0"/>
          </a:p>
        </p:txBody>
      </p:sp>
      <p:sp>
        <p:nvSpPr>
          <p:cNvPr id="3" name="Shape 1"/>
          <p:cNvSpPr/>
          <p:nvPr/>
        </p:nvSpPr>
        <p:spPr>
          <a:xfrm>
            <a:off x="812800" y="1651000"/>
            <a:ext cx="5588000" cy="3994150"/>
          </a:xfrm>
          <a:prstGeom prst="roundRect">
            <a:avLst>
              <a:gd name="adj" fmla="val 1908"/>
            </a:avLst>
          </a:prstGeom>
          <a:solidFill>
            <a:srgbClr val="FCFBF7"/>
          </a:solidFill>
          <a:ln/>
        </p:spPr>
      </p:sp>
      <p:pic>
        <p:nvPicPr>
          <p:cNvPr id="4" name="Image 0" descr="The rover simulator after a run: the course, the rover’s path to the green and red patches, and the log of everything the program printed.">    </p:cNvPr>
          <p:cNvPicPr>
            <a:picLocks noChangeAspect="1"/>
          </p:cNvPicPr>
          <p:nvPr/>
        </p:nvPicPr>
        <p:blipFill>
          <a:blip r:embed="rId1"/>
          <a:srcRect l="-11" r="-11" t="0" b="0"/>
          <a:stretch/>
        </p:blipFill>
        <p:spPr>
          <a:xfrm>
            <a:off x="819150" y="1657350"/>
            <a:ext cx="5575300" cy="3981450"/>
          </a:xfrm>
          <a:prstGeom prst="roundRect">
            <a:avLst>
              <a:gd name="adj" fmla="val 1754"/>
            </a:avLst>
          </a:prstGeom>
        </p:spPr>
      </p:pic>
      <p:sp>
        <p:nvSpPr>
          <p:cNvPr id="5" name="Shape 2"/>
          <p:cNvSpPr/>
          <p:nvPr/>
        </p:nvSpPr>
        <p:spPr>
          <a:xfrm>
            <a:off x="815975" y="1654175"/>
            <a:ext cx="5581650" cy="3987800"/>
          </a:xfrm>
          <a:prstGeom prst="roundRect">
            <a:avLst>
              <a:gd name="adj" fmla="val 1831"/>
            </a:avLst>
          </a:prstGeom>
          <a:noFill/>
          <a:ln w="6350">
            <a:solidFill>
              <a:srgbClr val="DCD6C8"/>
            </a:solidFill>
            <a:prstDash val="solid"/>
          </a:ln>
        </p:spPr>
      </p:sp>
      <p:sp>
        <p:nvSpPr>
          <p:cNvPr id="6" name="Text 3"/>
          <p:cNvSpPr/>
          <p:nvPr/>
        </p:nvSpPr>
        <p:spPr>
          <a:xfrm>
            <a:off x="6705600" y="165100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2B"/>
                </a:solidFill>
                <a:latin typeface="Rubik" pitchFamily="34" charset="0"/>
                <a:ea typeface="Rubik" pitchFamily="34" charset="-122"/>
                <a:cs typeface="Rubik" pitchFamily="34" charset="-120"/>
              </a:rPr>
              <a:t>Your real program</a:t>
            </a:r>
            <a:endParaRPr lang="en-US" sz="1800" dirty="0"/>
          </a:p>
        </p:txBody>
      </p:sp>
      <p:sp>
        <p:nvSpPr>
          <p:cNvPr id="7" name="Text 4"/>
          <p:cNvSpPr/>
          <p:nvPr/>
        </p:nvSpPr>
        <p:spPr>
          <a:xfrm>
            <a:off x="6705600" y="1963421"/>
            <a:ext cx="481380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The same file you put on the hub. Save it, press Run.</a:t>
            </a:r>
            <a:endParaRPr lang="en-US" sz="1400" dirty="0"/>
          </a:p>
        </p:txBody>
      </p:sp>
      <p:sp>
        <p:nvSpPr>
          <p:cNvPr id="8" name="Text 5"/>
          <p:cNvSpPr/>
          <p:nvPr/>
        </p:nvSpPr>
        <p:spPr>
          <a:xfrm>
            <a:off x="6705600" y="238125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2B"/>
                </a:solidFill>
                <a:latin typeface="Rubik" pitchFamily="34" charset="0"/>
                <a:ea typeface="Rubik" pitchFamily="34" charset="-122"/>
                <a:cs typeface="Rubik" pitchFamily="34" charset="-120"/>
              </a:rPr>
              <a:t>Your rover, your course</a:t>
            </a:r>
            <a:endParaRPr lang="en-US" sz="1800" dirty="0"/>
          </a:p>
        </p:txBody>
      </p:sp>
      <p:sp>
        <p:nvSpPr>
          <p:cNvPr id="9" name="Text 6"/>
          <p:cNvSpPr/>
          <p:nvPr/>
        </p:nvSpPr>
        <p:spPr>
          <a:xfrm>
            <a:off x="6705600" y="2693671"/>
            <a:ext cx="481380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Draw both: wheels, sensors, walls and patches.</a:t>
            </a:r>
            <a:endParaRPr lang="en-US" sz="1400" dirty="0"/>
          </a:p>
        </p:txBody>
      </p:sp>
      <p:sp>
        <p:nvSpPr>
          <p:cNvPr id="10" name="Text 7"/>
          <p:cNvSpPr/>
          <p:nvPr/>
        </p:nvSpPr>
        <p:spPr>
          <a:xfrm>
            <a:off x="6705600" y="311150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2B"/>
                </a:solidFill>
                <a:latin typeface="Rubik" pitchFamily="34" charset="0"/>
                <a:ea typeface="Rubik" pitchFamily="34" charset="-122"/>
                <a:cs typeface="Rubik" pitchFamily="34" charset="-120"/>
              </a:rPr>
              <a:t>See what it thought</a:t>
            </a:r>
            <a:endParaRPr lang="en-US" sz="1800" dirty="0"/>
          </a:p>
        </p:txBody>
      </p:sp>
      <p:sp>
        <p:nvSpPr>
          <p:cNvPr id="11" name="Text 8"/>
          <p:cNvSpPr/>
          <p:nvPr/>
        </p:nvSpPr>
        <p:spPr>
          <a:xfrm>
            <a:off x="6705600" y="3423921"/>
            <a:ext cx="481380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Every message, and where the rover was at that moment.</a:t>
            </a:r>
            <a:endParaRPr lang="en-US" sz="1400" dirty="0"/>
          </a:p>
        </p:txBody>
      </p:sp>
      <p:sp>
        <p:nvSpPr>
          <p:cNvPr id="12" name="Text 9"/>
          <p:cNvSpPr/>
          <p:nvPr/>
        </p:nvSpPr>
        <p:spPr>
          <a:xfrm>
            <a:off x="6705600" y="4081779"/>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31A"/>
                </a:solidFill>
                <a:latin typeface="Rubik" pitchFamily="34" charset="0"/>
                <a:ea typeface="Rubik" pitchFamily="34" charset="-122"/>
                <a:cs typeface="Rubik" pitchFamily="34" charset="-120"/>
              </a:rPr>
              <a:t>Catches wrong settings</a:t>
            </a:r>
            <a:endParaRPr lang="en-US" sz="1800" dirty="0"/>
          </a:p>
        </p:txBody>
      </p:sp>
      <p:sp>
        <p:nvSpPr>
          <p:cNvPr id="13" name="Text 10"/>
          <p:cNvSpPr/>
          <p:nvPr/>
        </p:nvSpPr>
        <p:spPr>
          <a:xfrm>
            <a:off x="6705600" y="4394200"/>
            <a:ext cx="481380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A red warning when your settings don’t match your rover.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531A"/>
                </a:solidFill>
                <a:latin typeface="Rubik" pitchFamily="34" charset="0"/>
                <a:ea typeface="Rubik" pitchFamily="34" charset="-122"/>
                <a:cs typeface="Rubik" pitchFamily="34" charset="-120"/>
              </a:rPr>
              <a:t>BEFORE YOU BUILD</a:t>
            </a:r>
            <a:endParaRPr lang="en-US" sz="1400" dirty="0"/>
          </a:p>
        </p:txBody>
      </p:sp>
      <p:sp>
        <p:nvSpPr>
          <p:cNvPr id="3" name="Text 1"/>
          <p:cNvSpPr/>
          <p:nvPr>
            <p:ph type="title"/>
          </p:nvPr>
        </p:nvSpPr>
        <p:spPr>
          <a:xfrm>
            <a:off x="812800" y="1366521"/>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Design your rover for the software</a:t>
            </a:r>
            <a:endParaRPr lang="en-US" sz="4000" dirty="0"/>
          </a:p>
        </p:txBody>
      </p:sp>
      <p:sp>
        <p:nvSpPr>
          <p:cNvPr id="4" name="Shape 2"/>
          <p:cNvSpPr/>
          <p:nvPr/>
        </p:nvSpPr>
        <p:spPr>
          <a:xfrm>
            <a:off x="815975" y="2233296"/>
            <a:ext cx="5187950" cy="1294130"/>
          </a:xfrm>
          <a:prstGeom prst="roundRect">
            <a:avLst>
              <a:gd name="adj" fmla="val 7605"/>
            </a:avLst>
          </a:prstGeom>
          <a:solidFill>
            <a:srgbClr val="FCFBF7"/>
          </a:solidFill>
          <a:ln w="6350">
            <a:solidFill>
              <a:srgbClr val="DCD6C8"/>
            </a:solidFill>
            <a:prstDash val="solid"/>
          </a:ln>
        </p:spPr>
      </p:sp>
      <p:sp>
        <p:nvSpPr>
          <p:cNvPr id="5" name="Text 3"/>
          <p:cNvSpPr/>
          <p:nvPr/>
        </p:nvSpPr>
        <p:spPr>
          <a:xfrm>
            <a:off x="1046480" y="2463800"/>
            <a:ext cx="4868748"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5232B"/>
                </a:solidFill>
                <a:latin typeface="Rubik" pitchFamily="34" charset="0"/>
                <a:ea typeface="Rubik" pitchFamily="34" charset="-122"/>
                <a:cs typeface="Rubik" pitchFamily="34" charset="-120"/>
              </a:rPr>
              <a:t>It should turn on the spot (skid steer)</a:t>
            </a:r>
            <a:endParaRPr lang="en-US" sz="1900" dirty="0"/>
          </a:p>
        </p:txBody>
      </p:sp>
      <p:sp>
        <p:nvSpPr>
          <p:cNvPr id="6" name="Text 4"/>
          <p:cNvSpPr/>
          <p:nvPr/>
        </p:nvSpPr>
        <p:spPr>
          <a:xfrm>
            <a:off x="1046480" y="2816864"/>
            <a:ext cx="486874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Driven wheels on both sides. A rover that steers like a car cannot run the autonomy as it is.</a:t>
            </a:r>
            <a:endParaRPr lang="en-US" sz="1400" dirty="0"/>
          </a:p>
        </p:txBody>
      </p:sp>
      <p:sp>
        <p:nvSpPr>
          <p:cNvPr id="7" name="Shape 5"/>
          <p:cNvSpPr/>
          <p:nvPr/>
        </p:nvSpPr>
        <p:spPr>
          <a:xfrm>
            <a:off x="6188075" y="2233296"/>
            <a:ext cx="5187950" cy="1294130"/>
          </a:xfrm>
          <a:prstGeom prst="roundRect">
            <a:avLst>
              <a:gd name="adj" fmla="val 7605"/>
            </a:avLst>
          </a:prstGeom>
          <a:solidFill>
            <a:srgbClr val="FCFBF7"/>
          </a:solidFill>
          <a:ln w="6350">
            <a:solidFill>
              <a:srgbClr val="DCD6C8"/>
            </a:solidFill>
            <a:prstDash val="solid"/>
          </a:ln>
        </p:spPr>
      </p:sp>
      <p:sp>
        <p:nvSpPr>
          <p:cNvPr id="8" name="Text 6"/>
          <p:cNvSpPr/>
          <p:nvPr/>
        </p:nvSpPr>
        <p:spPr>
          <a:xfrm>
            <a:off x="6418580" y="2463800"/>
            <a:ext cx="4868748"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5232B"/>
                </a:solidFill>
                <a:latin typeface="Rubik" pitchFamily="34" charset="0"/>
                <a:ea typeface="Rubik" pitchFamily="34" charset="-122"/>
                <a:cs typeface="Rubik" pitchFamily="34" charset="-120"/>
              </a:rPr>
              <a:t>Think about size</a:t>
            </a:r>
            <a:endParaRPr lang="en-US" sz="1900" dirty="0"/>
          </a:p>
        </p:txBody>
      </p:sp>
      <p:sp>
        <p:nvSpPr>
          <p:cNvPr id="9" name="Text 7"/>
          <p:cNvSpPr/>
          <p:nvPr/>
        </p:nvSpPr>
        <p:spPr>
          <a:xfrm>
            <a:off x="6418580" y="2816864"/>
            <a:ext cx="486874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Spinning needs a clear circle: about 27 cm across for a 15 × 18 cm rover. Can your rover get through the gaps?</a:t>
            </a:r>
            <a:endParaRPr lang="en-US" sz="1400" dirty="0"/>
          </a:p>
        </p:txBody>
      </p:sp>
      <p:sp>
        <p:nvSpPr>
          <p:cNvPr id="10" name="Shape 8"/>
          <p:cNvSpPr/>
          <p:nvPr/>
        </p:nvSpPr>
        <p:spPr>
          <a:xfrm>
            <a:off x="815975" y="3711575"/>
            <a:ext cx="5187950" cy="1294130"/>
          </a:xfrm>
          <a:prstGeom prst="roundRect">
            <a:avLst>
              <a:gd name="adj" fmla="val 7605"/>
            </a:avLst>
          </a:prstGeom>
          <a:solidFill>
            <a:srgbClr val="FCFBF7"/>
          </a:solidFill>
          <a:ln w="6350">
            <a:solidFill>
              <a:srgbClr val="DCD6C8"/>
            </a:solidFill>
            <a:prstDash val="solid"/>
          </a:ln>
        </p:spPr>
      </p:sp>
      <p:sp>
        <p:nvSpPr>
          <p:cNvPr id="11" name="Text 9"/>
          <p:cNvSpPr/>
          <p:nvPr/>
        </p:nvSpPr>
        <p:spPr>
          <a:xfrm>
            <a:off x="1046480" y="3942079"/>
            <a:ext cx="4868748"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5232B"/>
                </a:solidFill>
                <a:latin typeface="Rubik" pitchFamily="34" charset="0"/>
                <a:ea typeface="Rubik" pitchFamily="34" charset="-122"/>
                <a:cs typeface="Rubik" pitchFamily="34" charset="-120"/>
              </a:rPr>
              <a:t>Four wheels work too</a:t>
            </a:r>
            <a:endParaRPr lang="en-US" sz="1900" dirty="0"/>
          </a:p>
        </p:txBody>
      </p:sp>
      <p:sp>
        <p:nvSpPr>
          <p:cNvPr id="12" name="Text 10"/>
          <p:cNvSpPr/>
          <p:nvPr/>
        </p:nvSpPr>
        <p:spPr>
          <a:xfrm>
            <a:off x="1046480" y="4295142"/>
            <a:ext cx="486874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They slide when turning, so turns may be slower. Two quick tests measure it for the simulator.</a:t>
            </a:r>
            <a:endParaRPr lang="en-US" sz="1400" dirty="0"/>
          </a:p>
        </p:txBody>
      </p:sp>
      <p:sp>
        <p:nvSpPr>
          <p:cNvPr id="13" name="Shape 11"/>
          <p:cNvSpPr/>
          <p:nvPr/>
        </p:nvSpPr>
        <p:spPr>
          <a:xfrm>
            <a:off x="6188075" y="3711575"/>
            <a:ext cx="5187950" cy="1294130"/>
          </a:xfrm>
          <a:prstGeom prst="roundRect">
            <a:avLst>
              <a:gd name="adj" fmla="val 7605"/>
            </a:avLst>
          </a:prstGeom>
          <a:solidFill>
            <a:srgbClr val="FCFBF7"/>
          </a:solidFill>
          <a:ln w="6350">
            <a:solidFill>
              <a:srgbClr val="DCD6C8"/>
            </a:solidFill>
            <a:prstDash val="solid"/>
          </a:ln>
        </p:spPr>
      </p:sp>
      <p:sp>
        <p:nvSpPr>
          <p:cNvPr id="14" name="Text 12"/>
          <p:cNvSpPr/>
          <p:nvPr/>
        </p:nvSpPr>
        <p:spPr>
          <a:xfrm>
            <a:off x="6418580" y="3942079"/>
            <a:ext cx="4868748"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5232B"/>
                </a:solidFill>
                <a:latin typeface="Rubik" pitchFamily="34" charset="0"/>
                <a:ea typeface="Rubik" pitchFamily="34" charset="-122"/>
                <a:cs typeface="Rubik" pitchFamily="34" charset="-120"/>
              </a:rPr>
              <a:t>Sensors in the right place</a:t>
            </a:r>
            <a:endParaRPr lang="en-US" sz="1900" dirty="0"/>
          </a:p>
        </p:txBody>
      </p:sp>
      <p:sp>
        <p:nvSpPr>
          <p:cNvPr id="15" name="Text 13"/>
          <p:cNvSpPr/>
          <p:nvPr/>
        </p:nvSpPr>
        <p:spPr>
          <a:xfrm>
            <a:off x="6418580" y="4295142"/>
            <a:ext cx="486874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Distance sensor straight ahead, level with the walls. Colour sensor facing the floor, close to it.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7D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531A"/>
                </a:solidFill>
                <a:latin typeface="Rubik" pitchFamily="34" charset="0"/>
                <a:ea typeface="Rubik" pitchFamily="34" charset="-122"/>
                <a:cs typeface="Rubik" pitchFamily="34" charset="-120"/>
              </a:rPr>
              <a:t>GETTING STARTED</a:t>
            </a:r>
            <a:endParaRPr lang="en-US" sz="1400" dirty="0"/>
          </a:p>
        </p:txBody>
      </p:sp>
      <p:sp>
        <p:nvSpPr>
          <p:cNvPr id="3" name="Text 1"/>
          <p:cNvSpPr/>
          <p:nvPr>
            <p:ph type="title"/>
          </p:nvPr>
        </p:nvSpPr>
        <p:spPr>
          <a:xfrm>
            <a:off x="812800" y="1366521"/>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Your first hour, in six steps</a:t>
            </a:r>
            <a:endParaRPr lang="en-US" sz="4000" dirty="0"/>
          </a:p>
        </p:txBody>
      </p:sp>
      <p:sp>
        <p:nvSpPr>
          <p:cNvPr id="4" name="Shape 2"/>
          <p:cNvSpPr/>
          <p:nvPr/>
        </p:nvSpPr>
        <p:spPr>
          <a:xfrm>
            <a:off x="812800" y="2230121"/>
            <a:ext cx="3403600" cy="1046480"/>
          </a:xfrm>
          <a:prstGeom prst="roundRect">
            <a:avLst>
              <a:gd name="adj" fmla="val 9709"/>
            </a:avLst>
          </a:prstGeom>
          <a:solidFill>
            <a:srgbClr val="FCFBF7"/>
          </a:solidFill>
          <a:ln/>
        </p:spPr>
      </p:sp>
      <p:sp>
        <p:nvSpPr>
          <p:cNvPr id="5" name="Text 3"/>
          <p:cNvSpPr/>
          <p:nvPr/>
        </p:nvSpPr>
        <p:spPr>
          <a:xfrm>
            <a:off x="1016000" y="2433321"/>
            <a:ext cx="226377"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1A"/>
                </a:solidFill>
                <a:latin typeface="Arial" pitchFamily="34" charset="0"/>
                <a:ea typeface="Arial" pitchFamily="34" charset="-122"/>
                <a:cs typeface="Arial" pitchFamily="34" charset="-120"/>
              </a:rPr>
              <a:t>1</a:t>
            </a:r>
            <a:endParaRPr lang="en-US" sz="3600" dirty="0"/>
          </a:p>
        </p:txBody>
      </p:sp>
      <p:sp>
        <p:nvSpPr>
          <p:cNvPr id="6" name="Text 4"/>
          <p:cNvSpPr/>
          <p:nvPr/>
        </p:nvSpPr>
        <p:spPr>
          <a:xfrm>
            <a:off x="1343978" y="2505714"/>
            <a:ext cx="274929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5232B"/>
                </a:solidFill>
                <a:latin typeface="Rubik" pitchFamily="34" charset="0"/>
                <a:ea typeface="Rubik" pitchFamily="34" charset="-122"/>
                <a:cs typeface="Rubik" pitchFamily="34" charset="-120"/>
              </a:rPr>
              <a:t>Copy your file into the SPIKE App</a:t>
            </a:r>
            <a:endParaRPr lang="en-US" sz="1500" dirty="0"/>
          </a:p>
        </p:txBody>
      </p:sp>
      <p:sp>
        <p:nvSpPr>
          <p:cNvPr id="7" name="Shape 5"/>
          <p:cNvSpPr/>
          <p:nvPr/>
        </p:nvSpPr>
        <p:spPr>
          <a:xfrm>
            <a:off x="4394200" y="2230121"/>
            <a:ext cx="3403600" cy="1046480"/>
          </a:xfrm>
          <a:prstGeom prst="roundRect">
            <a:avLst>
              <a:gd name="adj" fmla="val 9709"/>
            </a:avLst>
          </a:prstGeom>
          <a:solidFill>
            <a:srgbClr val="FCFBF7"/>
          </a:solidFill>
          <a:ln/>
        </p:spPr>
      </p:sp>
      <p:sp>
        <p:nvSpPr>
          <p:cNvPr id="8" name="Text 6"/>
          <p:cNvSpPr/>
          <p:nvPr/>
        </p:nvSpPr>
        <p:spPr>
          <a:xfrm>
            <a:off x="4597400" y="2433321"/>
            <a:ext cx="282178"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1A"/>
                </a:solidFill>
                <a:latin typeface="Arial" pitchFamily="34" charset="0"/>
                <a:ea typeface="Arial" pitchFamily="34" charset="-122"/>
                <a:cs typeface="Arial" pitchFamily="34" charset="-120"/>
              </a:rPr>
              <a:t>2</a:t>
            </a:r>
            <a:endParaRPr lang="en-US" sz="3600" dirty="0"/>
          </a:p>
        </p:txBody>
      </p:sp>
      <p:sp>
        <p:nvSpPr>
          <p:cNvPr id="9" name="Text 7"/>
          <p:cNvSpPr/>
          <p:nvPr/>
        </p:nvSpPr>
        <p:spPr>
          <a:xfrm>
            <a:off x="4981178" y="2505714"/>
            <a:ext cx="269182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5232B"/>
                </a:solidFill>
                <a:latin typeface="Rubik" pitchFamily="34" charset="0"/>
                <a:ea typeface="Rubik" pitchFamily="34" charset="-122"/>
                <a:cs typeface="Rubik" pitchFamily="34" charset="-120"/>
              </a:rPr>
              <a:t>Fill in the SETTINGS for your rover</a:t>
            </a:r>
            <a:endParaRPr lang="en-US" sz="1500" dirty="0"/>
          </a:p>
        </p:txBody>
      </p:sp>
      <p:sp>
        <p:nvSpPr>
          <p:cNvPr id="10" name="Shape 8"/>
          <p:cNvSpPr/>
          <p:nvPr/>
        </p:nvSpPr>
        <p:spPr>
          <a:xfrm>
            <a:off x="7975600" y="2230121"/>
            <a:ext cx="3403600" cy="1046480"/>
          </a:xfrm>
          <a:prstGeom prst="roundRect">
            <a:avLst>
              <a:gd name="adj" fmla="val 9709"/>
            </a:avLst>
          </a:prstGeom>
          <a:solidFill>
            <a:srgbClr val="FCFBF7"/>
          </a:solidFill>
          <a:ln/>
        </p:spPr>
      </p:sp>
      <p:sp>
        <p:nvSpPr>
          <p:cNvPr id="11" name="Text 9"/>
          <p:cNvSpPr/>
          <p:nvPr/>
        </p:nvSpPr>
        <p:spPr>
          <a:xfrm>
            <a:off x="8178800" y="2433321"/>
            <a:ext cx="282178"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1A"/>
                </a:solidFill>
                <a:latin typeface="Arial" pitchFamily="34" charset="0"/>
                <a:ea typeface="Arial" pitchFamily="34" charset="-122"/>
                <a:cs typeface="Arial" pitchFamily="34" charset="-120"/>
              </a:rPr>
              <a:t>3</a:t>
            </a:r>
            <a:endParaRPr lang="en-US" sz="3600" dirty="0"/>
          </a:p>
        </p:txBody>
      </p:sp>
      <p:sp>
        <p:nvSpPr>
          <p:cNvPr id="12" name="Text 10"/>
          <p:cNvSpPr/>
          <p:nvPr/>
        </p:nvSpPr>
        <p:spPr>
          <a:xfrm>
            <a:off x="8562578" y="2505714"/>
            <a:ext cx="269182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5232B"/>
                </a:solidFill>
                <a:latin typeface="Rubik" pitchFamily="34" charset="0"/>
                <a:ea typeface="Rubik" pitchFamily="34" charset="-122"/>
                <a:cs typeface="Rubik" pitchFamily="34" charset="-120"/>
              </a:rPr>
              <a:t>Draw your rover in the simulator</a:t>
            </a:r>
            <a:endParaRPr lang="en-US" sz="1500" dirty="0"/>
          </a:p>
        </p:txBody>
      </p:sp>
      <p:sp>
        <p:nvSpPr>
          <p:cNvPr id="13" name="Shape 11"/>
          <p:cNvSpPr/>
          <p:nvPr/>
        </p:nvSpPr>
        <p:spPr>
          <a:xfrm>
            <a:off x="812800" y="3454400"/>
            <a:ext cx="3403600" cy="1046480"/>
          </a:xfrm>
          <a:prstGeom prst="roundRect">
            <a:avLst>
              <a:gd name="adj" fmla="val 9709"/>
            </a:avLst>
          </a:prstGeom>
          <a:solidFill>
            <a:srgbClr val="FCFBF7"/>
          </a:solidFill>
          <a:ln/>
        </p:spPr>
      </p:sp>
      <p:sp>
        <p:nvSpPr>
          <p:cNvPr id="14" name="Text 12"/>
          <p:cNvSpPr/>
          <p:nvPr/>
        </p:nvSpPr>
        <p:spPr>
          <a:xfrm>
            <a:off x="1016000" y="3657600"/>
            <a:ext cx="286306"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1A"/>
                </a:solidFill>
                <a:latin typeface="Arial" pitchFamily="34" charset="0"/>
                <a:ea typeface="Arial" pitchFamily="34" charset="-122"/>
                <a:cs typeface="Arial" pitchFamily="34" charset="-120"/>
              </a:rPr>
              <a:t>4</a:t>
            </a:r>
            <a:endParaRPr lang="en-US" sz="3600" dirty="0"/>
          </a:p>
        </p:txBody>
      </p:sp>
      <p:sp>
        <p:nvSpPr>
          <p:cNvPr id="15" name="Text 13"/>
          <p:cNvSpPr/>
          <p:nvPr/>
        </p:nvSpPr>
        <p:spPr>
          <a:xfrm>
            <a:off x="1403906" y="3729992"/>
            <a:ext cx="2687573"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5232B"/>
                </a:solidFill>
                <a:latin typeface="Rubik" pitchFamily="34" charset="0"/>
                <a:ea typeface="Rubik" pitchFamily="34" charset="-122"/>
                <a:cs typeface="Rubik" pitchFamily="34" charset="-120"/>
              </a:rPr>
              <a:t>Run setup_check on the real rover</a:t>
            </a:r>
            <a:endParaRPr lang="en-US" sz="1500" dirty="0"/>
          </a:p>
        </p:txBody>
      </p:sp>
      <p:sp>
        <p:nvSpPr>
          <p:cNvPr id="16" name="Shape 14"/>
          <p:cNvSpPr/>
          <p:nvPr/>
        </p:nvSpPr>
        <p:spPr>
          <a:xfrm>
            <a:off x="4394200" y="3454400"/>
            <a:ext cx="3403600" cy="1046480"/>
          </a:xfrm>
          <a:prstGeom prst="roundRect">
            <a:avLst>
              <a:gd name="adj" fmla="val 9709"/>
            </a:avLst>
          </a:prstGeom>
          <a:solidFill>
            <a:srgbClr val="FCFBF7"/>
          </a:solidFill>
          <a:ln/>
        </p:spPr>
      </p:sp>
      <p:sp>
        <p:nvSpPr>
          <p:cNvPr id="17" name="Text 15"/>
          <p:cNvSpPr/>
          <p:nvPr/>
        </p:nvSpPr>
        <p:spPr>
          <a:xfrm>
            <a:off x="4597400" y="3657600"/>
            <a:ext cx="280353"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1A"/>
                </a:solidFill>
                <a:latin typeface="Arial" pitchFamily="34" charset="0"/>
                <a:ea typeface="Arial" pitchFamily="34" charset="-122"/>
                <a:cs typeface="Arial" pitchFamily="34" charset="-120"/>
              </a:rPr>
              <a:t>5</a:t>
            </a:r>
            <a:endParaRPr lang="en-US" sz="3600" dirty="0"/>
          </a:p>
        </p:txBody>
      </p:sp>
      <p:sp>
        <p:nvSpPr>
          <p:cNvPr id="18" name="Text 16"/>
          <p:cNvSpPr/>
          <p:nvPr/>
        </p:nvSpPr>
        <p:spPr>
          <a:xfrm>
            <a:off x="4979353" y="3729992"/>
            <a:ext cx="269370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5232B"/>
                </a:solidFill>
                <a:latin typeface="Rubik" pitchFamily="34" charset="0"/>
                <a:ea typeface="Rubik" pitchFamily="34" charset="-122"/>
                <a:cs typeface="Rubik" pitchFamily="34" charset="-120"/>
              </a:rPr>
              <a:t>Run your program in the simulator</a:t>
            </a:r>
            <a:endParaRPr lang="en-US" sz="1500" dirty="0"/>
          </a:p>
        </p:txBody>
      </p:sp>
      <p:sp>
        <p:nvSpPr>
          <p:cNvPr id="19" name="Shape 17"/>
          <p:cNvSpPr/>
          <p:nvPr/>
        </p:nvSpPr>
        <p:spPr>
          <a:xfrm>
            <a:off x="7975600" y="3454400"/>
            <a:ext cx="3403600" cy="1046480"/>
          </a:xfrm>
          <a:prstGeom prst="roundRect">
            <a:avLst>
              <a:gd name="adj" fmla="val 9709"/>
            </a:avLst>
          </a:prstGeom>
          <a:solidFill>
            <a:srgbClr val="FCFBF7"/>
          </a:solidFill>
          <a:ln/>
        </p:spPr>
      </p:sp>
      <p:sp>
        <p:nvSpPr>
          <p:cNvPr id="20" name="Text 18"/>
          <p:cNvSpPr/>
          <p:nvPr/>
        </p:nvSpPr>
        <p:spPr>
          <a:xfrm>
            <a:off x="8178800" y="3657600"/>
            <a:ext cx="293608"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1A"/>
                </a:solidFill>
                <a:latin typeface="Arial" pitchFamily="34" charset="0"/>
                <a:ea typeface="Arial" pitchFamily="34" charset="-122"/>
                <a:cs typeface="Arial" pitchFamily="34" charset="-120"/>
              </a:rPr>
              <a:t>6</a:t>
            </a:r>
            <a:endParaRPr lang="en-US" sz="3600" dirty="0"/>
          </a:p>
        </p:txBody>
      </p:sp>
      <p:sp>
        <p:nvSpPr>
          <p:cNvPr id="21" name="Text 19"/>
          <p:cNvSpPr/>
          <p:nvPr/>
        </p:nvSpPr>
        <p:spPr>
          <a:xfrm>
            <a:off x="8574008" y="3853817"/>
            <a:ext cx="268005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5232B"/>
                </a:solidFill>
                <a:latin typeface="Rubik" pitchFamily="34" charset="0"/>
                <a:ea typeface="Rubik" pitchFamily="34" charset="-122"/>
                <a:cs typeface="Rubik" pitchFamily="34" charset="-120"/>
              </a:rPr>
              <a:t>Then run it on the floor</a:t>
            </a:r>
            <a:endParaRPr lang="en-US" sz="1500" dirty="0"/>
          </a:p>
        </p:txBody>
      </p:sp>
      <p:sp>
        <p:nvSpPr>
          <p:cNvPr id="22" name="Text 20"/>
          <p:cNvSpPr/>
          <p:nvPr/>
        </p:nvSpPr>
        <p:spPr>
          <a:xfrm>
            <a:off x="812800" y="480567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0"/>
                </a:solidFill>
                <a:latin typeface="Rubik" pitchFamily="34" charset="0"/>
                <a:ea typeface="Rubik" pitchFamily="34" charset="-122"/>
                <a:cs typeface="Rubik" pitchFamily="34" charset="-120"/>
              </a:rPr>
              <a:t>Keep one master copy of your file. Change it, test it in the simulator, then copy it into the SPIKE App.</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531A"/>
                </a:solidFill>
                <a:latin typeface="Rubik" pitchFamily="34" charset="0"/>
                <a:ea typeface="Rubik" pitchFamily="34" charset="-122"/>
                <a:cs typeface="Rubik" pitchFamily="34" charset="-120"/>
              </a:rPr>
              <a:t>YOUR PROGRAM FILE</a:t>
            </a:r>
            <a:endParaRPr lang="en-US" sz="1400" dirty="0"/>
          </a:p>
        </p:txBody>
      </p:sp>
      <p:sp>
        <p:nvSpPr>
          <p:cNvPr id="3" name="Text 1"/>
          <p:cNvSpPr/>
          <p:nvPr>
            <p:ph type="title"/>
          </p:nvPr>
        </p:nvSpPr>
        <p:spPr>
          <a:xfrm>
            <a:off x="812800" y="1366521"/>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5232B"/>
                </a:solidFill>
                <a:latin typeface="Arial" pitchFamily="34" charset="0"/>
                <a:ea typeface="Arial" pitchFamily="34" charset="-122"/>
                <a:cs typeface="Arial" pitchFamily="34" charset="-120"/>
              </a:rPr>
              <a:t>Start with three places</a:t>
            </a:r>
            <a:endParaRPr lang="en-US" sz="4000" dirty="0"/>
          </a:p>
        </p:txBody>
      </p:sp>
      <p:sp>
        <p:nvSpPr>
          <p:cNvPr id="4" name="Shape 2"/>
          <p:cNvSpPr/>
          <p:nvPr/>
        </p:nvSpPr>
        <p:spPr>
          <a:xfrm>
            <a:off x="812800" y="2230121"/>
            <a:ext cx="3403600" cy="2002790"/>
          </a:xfrm>
          <a:prstGeom prst="roundRect">
            <a:avLst>
              <a:gd name="adj" fmla="val 3805"/>
            </a:avLst>
          </a:prstGeom>
          <a:solidFill>
            <a:srgbClr val="FCFBF7"/>
          </a:solidFill>
          <a:ln/>
        </p:spPr>
      </p:sp>
      <p:sp>
        <p:nvSpPr>
          <p:cNvPr id="5" name="Shape 3"/>
          <p:cNvSpPr/>
          <p:nvPr/>
        </p:nvSpPr>
        <p:spPr>
          <a:xfrm>
            <a:off x="812800" y="2230121"/>
            <a:ext cx="3403600" cy="2002790"/>
          </a:xfrm>
          <a:custGeom>
            <a:avLst/>
            <a:gdLst/>
            <a:ahLst/>
            <a:cxnLst/>
            <a:rect l="l" t="t" r="r" b="b"/>
            <a:pathLst>
              <a:path w="3403600" h="2002790">
                <a:moveTo>
                  <a:pt x="0" y="76200"/>
                </a:moveTo>
                <a:lnTo>
                  <a:pt x="0" y="76200"/>
                </a:lnTo>
                <a:arcTo hR="76200" wR="76200" stAng="10800000" swAng="5400000"/>
                <a:lnTo>
                  <a:pt x="3327400" y="0"/>
                </a:lnTo>
                <a:arcTo hR="76200" wR="76200" stAng="16200000" swAng="5400000"/>
                <a:lnTo>
                  <a:pt x="3403600" y="76200"/>
                </a:lnTo>
                <a:arcTo hR="12700" wR="76200" stAng="0" swAng="-5400000"/>
                <a:lnTo>
                  <a:pt x="76200" y="63500"/>
                </a:lnTo>
                <a:arcTo hR="12700" wR="76200" stAng="16200000" swAng="-5400000"/>
                <a:close/>
              </a:path>
            </a:pathLst>
          </a:custGeom>
          <a:solidFill>
            <a:srgbClr val="15232B"/>
          </a:solidFill>
          <a:ln/>
        </p:spPr>
      </p:sp>
      <p:sp>
        <p:nvSpPr>
          <p:cNvPr id="6" name="Text 4"/>
          <p:cNvSpPr/>
          <p:nvPr/>
        </p:nvSpPr>
        <p:spPr>
          <a:xfrm>
            <a:off x="1066800" y="2545079"/>
            <a:ext cx="2982468"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A5560"/>
                </a:solidFill>
                <a:latin typeface="Rubik" pitchFamily="34" charset="0"/>
                <a:ea typeface="Rubik" pitchFamily="34" charset="-122"/>
                <a:cs typeface="Rubik" pitchFamily="34" charset="-120"/>
              </a:rPr>
              <a:t>NEAR THE TOP</a:t>
            </a:r>
            <a:endParaRPr lang="en-US" sz="1300" dirty="0"/>
          </a:p>
        </p:txBody>
      </p:sp>
      <p:sp>
        <p:nvSpPr>
          <p:cNvPr id="7" name="Text 5"/>
          <p:cNvSpPr/>
          <p:nvPr/>
        </p:nvSpPr>
        <p:spPr>
          <a:xfrm>
            <a:off x="1066800" y="2865121"/>
            <a:ext cx="29824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32B"/>
                </a:solidFill>
                <a:latin typeface="Courier New" pitchFamily="49" charset="0"/>
                <a:ea typeface="Courier New" pitchFamily="49" charset="-122"/>
                <a:cs typeface="Courier New" pitchFamily="49" charset="-120"/>
              </a:rPr>
              <a:t>SETTINGS</a:t>
            </a:r>
            <a:endParaRPr lang="en-US" sz="2000" dirty="0"/>
          </a:p>
        </p:txBody>
      </p:sp>
      <p:sp>
        <p:nvSpPr>
          <p:cNvPr id="8" name="Text 6"/>
          <p:cNvSpPr/>
          <p:nvPr/>
        </p:nvSpPr>
        <p:spPr>
          <a:xfrm>
            <a:off x="1066800" y="3258821"/>
            <a:ext cx="2982468"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Describe your rover and your course: ports, wheel size, sensor positions.</a:t>
            </a:r>
            <a:endParaRPr lang="en-US" sz="1400" dirty="0"/>
          </a:p>
        </p:txBody>
      </p:sp>
      <p:sp>
        <p:nvSpPr>
          <p:cNvPr id="9" name="Shape 7"/>
          <p:cNvSpPr/>
          <p:nvPr/>
        </p:nvSpPr>
        <p:spPr>
          <a:xfrm>
            <a:off x="4394200" y="2230121"/>
            <a:ext cx="3403600" cy="2002790"/>
          </a:xfrm>
          <a:prstGeom prst="roundRect">
            <a:avLst>
              <a:gd name="adj" fmla="val 3805"/>
            </a:avLst>
          </a:prstGeom>
          <a:solidFill>
            <a:srgbClr val="FCFBF7"/>
          </a:solidFill>
          <a:ln/>
        </p:spPr>
      </p:sp>
      <p:sp>
        <p:nvSpPr>
          <p:cNvPr id="10" name="Shape 8"/>
          <p:cNvSpPr/>
          <p:nvPr/>
        </p:nvSpPr>
        <p:spPr>
          <a:xfrm>
            <a:off x="4394200" y="2230121"/>
            <a:ext cx="3403600" cy="2002790"/>
          </a:xfrm>
          <a:custGeom>
            <a:avLst/>
            <a:gdLst/>
            <a:ahLst/>
            <a:cxnLst/>
            <a:rect l="l" t="t" r="r" b="b"/>
            <a:pathLst>
              <a:path w="3403600" h="2002790">
                <a:moveTo>
                  <a:pt x="0" y="76200"/>
                </a:moveTo>
                <a:lnTo>
                  <a:pt x="0" y="76200"/>
                </a:lnTo>
                <a:arcTo hR="76200" wR="76200" stAng="10800000" swAng="5400000"/>
                <a:lnTo>
                  <a:pt x="3327400" y="0"/>
                </a:lnTo>
                <a:arcTo hR="76200" wR="76200" stAng="16200000" swAng="5400000"/>
                <a:lnTo>
                  <a:pt x="3403600" y="76200"/>
                </a:lnTo>
                <a:arcTo hR="12700" wR="76200" stAng="0" swAng="-5400000"/>
                <a:lnTo>
                  <a:pt x="76200" y="63500"/>
                </a:lnTo>
                <a:arcTo hR="12700" wR="76200" stAng="16200000" swAng="-5400000"/>
                <a:close/>
              </a:path>
            </a:pathLst>
          </a:custGeom>
          <a:solidFill>
            <a:srgbClr val="15232B"/>
          </a:solidFill>
          <a:ln/>
        </p:spPr>
      </p:sp>
      <p:sp>
        <p:nvSpPr>
          <p:cNvPr id="11" name="Text 9"/>
          <p:cNvSpPr/>
          <p:nvPr/>
        </p:nvSpPr>
        <p:spPr>
          <a:xfrm>
            <a:off x="4648200" y="2545079"/>
            <a:ext cx="2982468"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A5560"/>
                </a:solidFill>
                <a:latin typeface="Rubik" pitchFamily="34" charset="0"/>
                <a:ea typeface="Rubik" pitchFamily="34" charset="-122"/>
                <a:cs typeface="Rubik" pitchFamily="34" charset="-120"/>
              </a:rPr>
              <a:t>AT THE VERY BOTTOM</a:t>
            </a:r>
            <a:endParaRPr lang="en-US" sz="1300" dirty="0"/>
          </a:p>
        </p:txBody>
      </p:sp>
      <p:sp>
        <p:nvSpPr>
          <p:cNvPr id="12" name="Text 10"/>
          <p:cNvSpPr/>
          <p:nvPr/>
        </p:nvSpPr>
        <p:spPr>
          <a:xfrm>
            <a:off x="4648200" y="2865121"/>
            <a:ext cx="29824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32B"/>
                </a:solidFill>
                <a:latin typeface="Courier New" pitchFamily="49" charset="0"/>
                <a:ea typeface="Courier New" pitchFamily="49" charset="-122"/>
                <a:cs typeface="Courier New" pitchFamily="49" charset="-120"/>
              </a:rPr>
              <a:t>YOUR PROGRAM</a:t>
            </a:r>
            <a:endParaRPr lang="en-US" sz="2000" dirty="0"/>
          </a:p>
        </p:txBody>
      </p:sp>
      <p:sp>
        <p:nvSpPr>
          <p:cNvPr id="13" name="Text 11"/>
          <p:cNvSpPr/>
          <p:nvPr/>
        </p:nvSpPr>
        <p:spPr>
          <a:xfrm>
            <a:off x="4648200" y="3258821"/>
            <a:ext cx="298246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Choose what runs, or write your own moves.</a:t>
            </a:r>
            <a:endParaRPr lang="en-US" sz="1400" dirty="0"/>
          </a:p>
        </p:txBody>
      </p:sp>
      <p:sp>
        <p:nvSpPr>
          <p:cNvPr id="14" name="Shape 12"/>
          <p:cNvSpPr/>
          <p:nvPr/>
        </p:nvSpPr>
        <p:spPr>
          <a:xfrm>
            <a:off x="7975600" y="2230121"/>
            <a:ext cx="3403600" cy="2002790"/>
          </a:xfrm>
          <a:prstGeom prst="roundRect">
            <a:avLst>
              <a:gd name="adj" fmla="val 3805"/>
            </a:avLst>
          </a:prstGeom>
          <a:solidFill>
            <a:srgbClr val="FCFBF7"/>
          </a:solidFill>
          <a:ln/>
        </p:spPr>
      </p:sp>
      <p:sp>
        <p:nvSpPr>
          <p:cNvPr id="15" name="Shape 13"/>
          <p:cNvSpPr/>
          <p:nvPr/>
        </p:nvSpPr>
        <p:spPr>
          <a:xfrm>
            <a:off x="7975600" y="2230121"/>
            <a:ext cx="3403600" cy="2002790"/>
          </a:xfrm>
          <a:custGeom>
            <a:avLst/>
            <a:gdLst/>
            <a:ahLst/>
            <a:cxnLst/>
            <a:rect l="l" t="t" r="r" b="b"/>
            <a:pathLst>
              <a:path w="3403600" h="2002790">
                <a:moveTo>
                  <a:pt x="0" y="76200"/>
                </a:moveTo>
                <a:lnTo>
                  <a:pt x="0" y="76200"/>
                </a:lnTo>
                <a:arcTo hR="76200" wR="76200" stAng="10800000" swAng="5400000"/>
                <a:lnTo>
                  <a:pt x="3327400" y="0"/>
                </a:lnTo>
                <a:arcTo hR="76200" wR="76200" stAng="16200000" swAng="5400000"/>
                <a:lnTo>
                  <a:pt x="3403600" y="76200"/>
                </a:lnTo>
                <a:arcTo hR="12700" wR="76200" stAng="0" swAng="-5400000"/>
                <a:lnTo>
                  <a:pt x="76200" y="63500"/>
                </a:lnTo>
                <a:arcTo hR="12700" wR="76200" stAng="16200000" swAng="-5400000"/>
                <a:close/>
              </a:path>
            </a:pathLst>
          </a:custGeom>
          <a:solidFill>
            <a:srgbClr val="15232B"/>
          </a:solidFill>
          <a:ln/>
        </p:spPr>
      </p:sp>
      <p:sp>
        <p:nvSpPr>
          <p:cNvPr id="16" name="Text 14"/>
          <p:cNvSpPr/>
          <p:nvPr/>
        </p:nvSpPr>
        <p:spPr>
          <a:xfrm>
            <a:off x="8229600" y="2545079"/>
            <a:ext cx="2982468"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A5560"/>
                </a:solidFill>
                <a:latin typeface="Rubik" pitchFamily="34" charset="0"/>
                <a:ea typeface="Rubik" pitchFamily="34" charset="-122"/>
                <a:cs typeface="Rubik" pitchFamily="34" charset="-120"/>
              </a:rPr>
              <a:t>SEARCH THE FILE</a:t>
            </a:r>
            <a:endParaRPr lang="en-US" sz="1300" dirty="0"/>
          </a:p>
        </p:txBody>
      </p:sp>
      <p:sp>
        <p:nvSpPr>
          <p:cNvPr id="17" name="Text 15"/>
          <p:cNvSpPr/>
          <p:nvPr/>
        </p:nvSpPr>
        <p:spPr>
          <a:xfrm>
            <a:off x="8229600" y="2865121"/>
            <a:ext cx="29824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32B"/>
                </a:solidFill>
                <a:latin typeface="Courier New" pitchFamily="49" charset="0"/>
                <a:ea typeface="Courier New" pitchFamily="49" charset="-122"/>
                <a:cs typeface="Courier New" pitchFamily="49" charset="-120"/>
              </a:rPr>
              <a:t>on_colour_found</a:t>
            </a:r>
            <a:endParaRPr lang="en-US" sz="2000" dirty="0"/>
          </a:p>
        </p:txBody>
      </p:sp>
      <p:sp>
        <p:nvSpPr>
          <p:cNvPr id="18" name="Text 16"/>
          <p:cNvSpPr/>
          <p:nvPr/>
        </p:nvSpPr>
        <p:spPr>
          <a:xfrm>
            <a:off x="8229600" y="3258821"/>
            <a:ext cx="2982468"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0"/>
                </a:solidFill>
                <a:latin typeface="Rubik" pitchFamily="34" charset="0"/>
                <a:ea typeface="Rubik" pitchFamily="34" charset="-122"/>
                <a:cs typeface="Rubik" pitchFamily="34" charset="-120"/>
              </a:rPr>
              <a:t>Your actions on each colour. Look for ADD YOUR OWN ACTIONS HERE.</a:t>
            </a:r>
            <a:endParaRPr lang="en-US" sz="1400" dirty="0"/>
          </a:p>
        </p:txBody>
      </p:sp>
      <p:sp>
        <p:nvSpPr>
          <p:cNvPr id="19" name="Text 17"/>
          <p:cNvSpPr/>
          <p:nvPr/>
        </p:nvSpPr>
        <p:spPr>
          <a:xfrm>
            <a:off x="812800" y="453771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232B"/>
                </a:solidFill>
                <a:latin typeface="Rubik" pitchFamily="34" charset="0"/>
                <a:ea typeface="Rubik" pitchFamily="34" charset="-122"/>
                <a:cs typeface="Rubik" pitchFamily="34" charset="-120"/>
              </a:rPr>
              <a:t>Tinkering is encouraged - it helps to understand how it works.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32B"/>
        </a:solidFill>
      </p:bgPr>
    </p:bg>
    <p:spTree>
      <p:nvGrpSpPr>
        <p:cNvPr id="1" name=""/>
        <p:cNvGrpSpPr/>
        <p:nvPr/>
      </p:nvGrpSpPr>
      <p:grpSpPr>
        <a:xfrm>
          <a:off x="0" y="0"/>
          <a:ext cx="0" cy="0"/>
          <a:chOff x="0" y="0"/>
          <a:chExt cx="0" cy="0"/>
        </a:xfrm>
      </p:grpSpPr>
      <p:sp>
        <p:nvSpPr>
          <p:cNvPr id="2" name="Shape 0"/>
          <p:cNvSpPr/>
          <p:nvPr/>
        </p:nvSpPr>
        <p:spPr>
          <a:xfrm>
            <a:off x="812800" y="1409067"/>
            <a:ext cx="1016000" cy="88900"/>
          </a:xfrm>
          <a:prstGeom prst="rect">
            <a:avLst/>
          </a:prstGeom>
          <a:solidFill>
            <a:srgbClr val="E8772E"/>
          </a:solidFill>
          <a:ln/>
        </p:spPr>
      </p:sp>
      <p:sp>
        <p:nvSpPr>
          <p:cNvPr id="3" name="Text 1"/>
          <p:cNvSpPr/>
          <p:nvPr>
            <p:ph type="title"/>
          </p:nvPr>
        </p:nvSpPr>
        <p:spPr>
          <a:xfrm>
            <a:off x="812800" y="1802767"/>
            <a:ext cx="10883392" cy="2940050"/>
          </a:xfrm>
          <a:prstGeom prst="rect">
            <a:avLst/>
          </a:prstGeom>
          <a:noFill/>
          <a:ln/>
        </p:spPr>
        <p:txBody>
          <a:bodyPr wrap="square" lIns="0" tIns="0" rIns="0" bIns="0" rtlCol="0" anchor="t">
            <a:normAutofit/>
          </a:bodyPr>
          <a:lstStyle/>
          <a:p>
            <a:pPr algn="l" indent="0" marL="0">
              <a:lnSpc>
                <a:spcPts val="7650"/>
              </a:lnSpc>
              <a:buNone/>
            </a:pPr>
            <a:r>
              <a:rPr lang="en-US" sz="7500" b="1" i="0" dirty="0">
                <a:solidFill>
                  <a:srgbClr val="F5F2EA"/>
                </a:solidFill>
                <a:latin typeface="Arial" pitchFamily="34" charset="0"/>
                <a:ea typeface="Arial" pitchFamily="34" charset="-122"/>
                <a:cs typeface="Arial" pitchFamily="34" charset="-120"/>
              </a:rPr>
              <a:t>MEASURE.</a:t>
            </a:r>
            <a:endParaRPr lang="en-US" sz="7500" dirty="0"/>
          </a:p>
          <a:p>
            <a:pPr algn="l" indent="0" marL="0">
              <a:lnSpc>
                <a:spcPts val="7650"/>
              </a:lnSpc>
              <a:buNone/>
            </a:pPr>
            <a:r>
              <a:rPr lang="en-US" sz="7500" b="1" i="0" dirty="0">
                <a:solidFill>
                  <a:srgbClr val="F5F2EA"/>
                </a:solidFill>
                <a:latin typeface="Arial" pitchFamily="34" charset="0"/>
                <a:ea typeface="Arial" pitchFamily="34" charset="-122"/>
                <a:cs typeface="Arial" pitchFamily="34" charset="-120"/>
              </a:rPr>
              <a:t>SIMULATE.</a:t>
            </a:r>
            <a:endParaRPr lang="en-US" sz="7500" dirty="0"/>
          </a:p>
          <a:p>
            <a:pPr algn="l" indent="0" marL="0">
              <a:lnSpc>
                <a:spcPts val="7650"/>
              </a:lnSpc>
              <a:buNone/>
            </a:pPr>
            <a:r>
              <a:rPr lang="en-US" sz="7500" b="1" i="0" dirty="0">
                <a:solidFill>
                  <a:srgbClr val="F5F2EA"/>
                </a:solidFill>
                <a:latin typeface="Arial" pitchFamily="34" charset="0"/>
                <a:ea typeface="Arial" pitchFamily="34" charset="-122"/>
                <a:cs typeface="Arial" pitchFamily="34" charset="-120"/>
              </a:rPr>
              <a:t>THEN DRIVE.</a:t>
            </a:r>
            <a:endParaRPr lang="en-US" sz="7500" dirty="0"/>
          </a:p>
        </p:txBody>
      </p:sp>
      <p:sp>
        <p:nvSpPr>
          <p:cNvPr id="4" name="Text 2"/>
          <p:cNvSpPr/>
          <p:nvPr/>
        </p:nvSpPr>
        <p:spPr>
          <a:xfrm>
            <a:off x="812800" y="5022217"/>
            <a:ext cx="10883392"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0A56A"/>
                </a:solidFill>
                <a:latin typeface="Rubik" pitchFamily="34" charset="0"/>
                <a:ea typeface="Rubik" pitchFamily="34" charset="-122"/>
                <a:cs typeface="Rubik" pitchFamily="34" charset="-120"/>
              </a:rPr>
              <a:t>Questions?</a:t>
            </a:r>
            <a:endParaRPr lang="en-US" sz="2400" dirty="0"/>
          </a:p>
        </p:txBody>
      </p:sp>
    </p:spTree>
  </p:cSld>
  <p:clrMapOvr>
    <a:masterClrMapping/>
  </p:clrMapOvr>
</p:sld>
</file>

<file path=ppt/theme/theme1.xml><?xml version="1.0" encoding="utf-8"?>
<a:theme xmlns:a="http://schemas.openxmlformats.org/drawingml/2006/main" name="Rover Software for Teams">
  <a:themeElements>
    <a:clrScheme name="Rover Software for Teams">
      <a:dk1>
        <a:srgbClr val="15232B"/>
      </a:dk1>
      <a:lt1>
        <a:srgbClr val="F5F2EA"/>
      </a:lt1>
      <a:dk2>
        <a:srgbClr val="4D575B"/>
      </a:dk2>
      <a:lt2>
        <a:srgbClr val="DFDDD7"/>
      </a:lt2>
      <a:accent1>
        <a:srgbClr val="B4531A"/>
      </a:accent1>
      <a:accent2>
        <a:srgbClr val="E8772E"/>
      </a:accent2>
      <a:accent3>
        <a:srgbClr val="2F6FB3"/>
      </a:accent3>
      <a:accent4>
        <a:srgbClr val="1E6B3A"/>
      </a:accent4>
      <a:accent5>
        <a:srgbClr val="F0A56A"/>
      </a:accent5>
      <a:accent6>
        <a:srgbClr val="4A5560"/>
      </a:accent6>
      <a:hlink>
        <a:srgbClr val="0563C1"/>
      </a:hlink>
      <a:folHlink>
        <a:srgbClr val="954F72"/>
      </a:folHlink>
    </a:clrScheme>
    <a:fontScheme name="Rover Software for Teams">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Rover Software for Teams</dc:title>
  <dc:subject/>
  <dc:creator/>
  <cp:lastModifiedBy/>
  <cp:revision>1</cp:revision>
  <dcterms:created xsi:type="dcterms:W3CDTF">2026-10-19T20:29:30Z</dcterms:created>
  <dcterms:modified xsi:type="dcterms:W3CDTF">2026-10-19T20:29:30Z</dcterms:modified>
</cp:coreProperties>
</file>